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8" r:id="rId8"/>
    <p:sldId id="265" r:id="rId9"/>
    <p:sldId id="267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82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54184-E4E3-1271-1267-8318920DE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B3070-721D-C786-685B-35EA7B203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D791F-CCFD-E840-CE09-D226EDD2D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A9EB8-F466-1EF5-AA7B-61BB273BA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24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8AC6D-9642-64A1-6012-B9D49434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7B997-BE32-A5B4-3C77-C910DD021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1ED25-53C7-D099-D841-E29B0CAB1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EFBC3-1342-89B7-11D2-04BD350B8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27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365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A500"/>
                </a:solidFill>
              </a:rPr>
              <a:t>PROJECT TITLE</a:t>
            </a:r>
            <a:endParaRPr lang="en-US" sz="900" dirty="0"/>
          </a:p>
          <a:p>
            <a:pPr marL="0" indent="0">
              <a:buNone/>
            </a:pPr>
            <a:r>
              <a:rPr lang="en-US" sz="900" b="1" kern="0" spc="200" dirty="0">
                <a:solidFill>
                  <a:srgbClr val="F0A500"/>
                </a:solidFill>
              </a:rPr>
              <a:t>&amp;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C4D8"/>
                </a:solidFill>
              </a:rPr>
              <a:t>Port Cargo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B0C4D8"/>
                </a:solidFill>
              </a:rPr>
              <a:t>Auction Marketplace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" y="2606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0B4C8"/>
                </a:solidFill>
              </a:rPr>
              <a:t>A B2B digital platform that enables verified businesses to bid on unclaimed, abandoned, and seized cargo from DP World's 70+ port terminals — globally, in real time.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2880" y="3794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500"/>
                </a:solidFill>
              </a:rPr>
              <a:t>github.com/HARI-HL/cargox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" y="4023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090A0"/>
                </a:solidFill>
              </a:rPr>
              <a:t>Live prototype available at link above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0" y="320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1B2A"/>
                </a:solidFill>
              </a:rPr>
              <a:t>TEAM KK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777240"/>
            <a:ext cx="46634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777240"/>
            <a:ext cx="64008" cy="1143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033272"/>
            <a:ext cx="594360" cy="59436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033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0D14"/>
                </a:solidFill>
              </a:rPr>
              <a:t>HS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941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Hariharan S 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RA2311003050437 | SRM IST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0" y="1463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A500"/>
                </a:solidFill>
              </a:rPr>
              <a:t>Team Lead  ·  Architecture &amp; Backend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2103120"/>
            <a:ext cx="46634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0" y="2103120"/>
            <a:ext cx="64008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359152"/>
            <a:ext cx="594360" cy="594360"/>
          </a:xfrm>
          <a:prstGeom prst="ellipse">
            <a:avLst/>
          </a:prstGeom>
          <a:solidFill>
            <a:srgbClr val="1A2F4A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23591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Sangameshwaran 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RA2311003050260 | SRM IST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0" y="2788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Member  ·  Frontend &amp; UI/UX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3429000"/>
            <a:ext cx="46634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0" y="3429000"/>
            <a:ext cx="64008" cy="1143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4297680" y="3685032"/>
            <a:ext cx="594360" cy="594360"/>
          </a:xfrm>
          <a:prstGeom prst="ellipse">
            <a:avLst/>
          </a:prstGeom>
          <a:solidFill>
            <a:srgbClr val="1A2F4A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685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Santhosh RK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3886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RA2311003050411 | SRM IST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0" y="4114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Member  ·  ML &amp; Data analytics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28715E6-2CB2-6ED5-4E46-9CCA90214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698" y="3697062"/>
            <a:ext cx="1210628" cy="97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500"/>
                </a:solidFill>
              </a:rPr>
              <a:t>PROBLEM STATEMENT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Billions in cargo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languishes at ports.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8"/>
                </a:solidFill>
              </a:rPr>
              <a:t>Over 11 million TEUs of cargo are reported unclaimed or abandoned at ports each year (ITF/OECD 2022). This blocks berth capacity, raises port operating costs, and results in goods being destroyed or landfilled - a massive, solvable inefficiency.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2331720" cy="91440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Idle Cargo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044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</a:rPr>
              <a:t>11M+ TEUs unclaimed annually at global ports (ITF/OECD 2022)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0" y="2697480"/>
            <a:ext cx="2331720" cy="91440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3580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Port Congestion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30449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</a:rPr>
              <a:t>30% of port capacity lost to dwell-time inefficiencies (World Bank 2022)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2331720" cy="91440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8862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Opaque Process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142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</a:rPr>
              <a:t>Only 12% of port auctions are digitised globally (Drewry Maritime 2023)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0" y="3794760"/>
            <a:ext cx="2331720" cy="91440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3580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♻️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66160" y="38862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</a:rPr>
              <a:t>Waste &amp; Emissions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41422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</a:rPr>
              <a:t>Shipping contributes 2.89% of global CO₂ — unclaimed cargo worsens this (IMO 2023)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94960" y="548640"/>
            <a:ext cx="3383280" cy="42062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548640"/>
            <a:ext cx="33832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685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0A500"/>
                </a:solidFill>
              </a:rPr>
              <a:t>BY THE NUMBERS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1097280"/>
            <a:ext cx="315468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113385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$6T+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7784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</a:rPr>
              <a:t>global trade volume handled by sea freight annually (UNCTAD 2023)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0" y="1965960"/>
            <a:ext cx="315468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20025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90days+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577840" y="23957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</a:rPr>
              <a:t>avg dwell time before cargo is auctioned at Indian ports (JNPT Annual Report)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315468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287121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577840" y="32644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</a:rPr>
              <a:t>of global port capacity lost to idle/unclaimed containers (World Bank 2022)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0" y="3703320"/>
            <a:ext cx="3154680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37398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2.89%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577840" y="4133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B4C8"/>
                </a:solidFill>
              </a:rPr>
              <a:t>global trade value lost yearly to logistics inefficiencies (McKinsey 2023)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500"/>
                </a:solidFill>
              </a:rPr>
              <a:t>PROPOSED SOLUTION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CargoX</a:t>
            </a:r>
            <a:r>
              <a:rPr lang="en-US" sz="2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The DP World Port Auction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</a:rPr>
              <a:t>A SaaS marketplace that digitises and globalises unclaimed cargo auctions across DP World's entire terminal network.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65176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Port Authority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2441448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32961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List abandoned / seized lots instantly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" y="297180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90779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Upload customs manifest — AI auto-fills details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3502152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39242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Set reserve price, duration &amp; currency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" y="4032504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91363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Track ESG impact of every auction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417320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417320"/>
            <a:ext cx="265176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33756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Verified Buyers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2441448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3554906" y="23046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Browse global lots with rich filters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297180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3568270" y="283464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Bid in real-time with live countdown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64992" y="3502152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3554906" y="339242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Multi-currency support (INR, USD, AED…)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64992" y="4032504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3575304" y="392277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Receive customs docs upon winning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1443345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417320"/>
            <a:ext cx="2651760" cy="54864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DP World / Govt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99632" y="2441448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6373368" y="232257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Full audit trail &amp; compliance reporting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9632" y="297180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7" name="Text 35"/>
          <p:cNvSpPr/>
          <p:nvPr/>
        </p:nvSpPr>
        <p:spPr>
          <a:xfrm>
            <a:off x="6382512" y="2845191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Revenue from otherwise-lost cargo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99632" y="3502152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9944" y="339242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Port space freed automatically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99632" y="4032504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389745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A"/>
                </a:solidFill>
              </a:rPr>
              <a:t>ESG dashboard for sustainability goals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500"/>
                </a:solidFill>
              </a:rPr>
              <a:t>HOW IT WORKS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Auction Lifecycle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554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 Lists Cargo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</a:rPr>
              <a:t>Authority uploads manifest. AI auto-extracts lot details, condition &amp; ESG score.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92808" y="2606040"/>
            <a:ext cx="128016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9112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1005840"/>
            <a:ext cx="1554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953512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30552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Lot Goes 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</a:rPr>
              <a:t>Auction is published globally. Buyers across 70+ countries can browse &amp; bid.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11880" y="2606040"/>
            <a:ext cx="128016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758184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1005840"/>
            <a:ext cx="1554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67912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72584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9624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Bidding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9624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</a:rPr>
              <a:t>Live countdown, instant outbid alerts, multi-currency support built-in.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30952" y="2606040"/>
            <a:ext cx="128016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477256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7256" y="1005840"/>
            <a:ext cx="1554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8" name="Text 26"/>
          <p:cNvSpPr/>
          <p:nvPr/>
        </p:nvSpPr>
        <p:spPr>
          <a:xfrm>
            <a:off x="5586984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391656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68696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Auction Closes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68696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</a:rPr>
              <a:t>Winner verified. Customs docs auto-generated. Port space cleared.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50024" y="2606040"/>
            <a:ext cx="128016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3" name="Shape 31"/>
          <p:cNvSpPr/>
          <p:nvPr/>
        </p:nvSpPr>
        <p:spPr>
          <a:xfrm>
            <a:off x="7196328" y="1005840"/>
            <a:ext cx="1554480" cy="3520440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96328" y="1005840"/>
            <a:ext cx="1554480" cy="54864"/>
          </a:xfrm>
          <a:prstGeom prst="rect">
            <a:avLst/>
          </a:prstGeom>
          <a:solidFill>
            <a:srgbClr val="22C97A"/>
          </a:solidFill>
          <a:ln/>
        </p:spPr>
      </p:sp>
      <p:sp>
        <p:nvSpPr>
          <p:cNvPr id="35" name="Text 33"/>
          <p:cNvSpPr/>
          <p:nvPr/>
        </p:nvSpPr>
        <p:spPr>
          <a:xfrm>
            <a:off x="7306056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110728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287768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ESG Recorded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87768" y="214884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4C8"/>
                </a:solidFill>
              </a:rPr>
              <a:t>CO₂ saved vs disposal calculated. Reported to DP World ESG dashboard.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6360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500"/>
                </a:solidFill>
              </a:rPr>
              <a:t>🌍  Multi-Geography: </a:t>
            </a:r>
            <a:r>
              <a:rPr lang="en-US" sz="850" dirty="0">
                <a:solidFill>
                  <a:srgbClr val="A0B4C8"/>
                </a:solidFill>
              </a:rPr>
              <a:t>Supports INR, USD, AED, SGD, GBP, AUD — any DP World terminal globally    </a:t>
            </a:r>
            <a:r>
              <a:rPr lang="en-US" sz="850" b="1" dirty="0">
                <a:solidFill>
                  <a:srgbClr val="22C97A"/>
                </a:solidFill>
              </a:rPr>
              <a:t>🌱  Sustainability: </a:t>
            </a:r>
            <a:r>
              <a:rPr lang="en-US" sz="850" dirty="0">
                <a:solidFill>
                  <a:srgbClr val="A0B4C8"/>
                </a:solidFill>
              </a:rPr>
              <a:t>Every auction calculates &amp; reports CO₂ saved vs cargo disposal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500"/>
                </a:solidFill>
              </a:rPr>
              <a:t>TECHNOLOGY STACK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Scale - Free, Open-Source, Production-Grade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6596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54864" cy="8046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" y="1435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React.js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Component-based UI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86000"/>
            <a:ext cx="54864" cy="8046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2350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Tailwind CSS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Responsive styling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200400"/>
            <a:ext cx="54864" cy="8046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Socket.io Client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6344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Live bid updates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960120"/>
            <a:ext cx="196596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13716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68880" y="1371600"/>
            <a:ext cx="54864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2615184" y="1435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Node.js + Express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1518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REST API server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8880" y="22860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68880" y="2286000"/>
            <a:ext cx="54864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615184" y="2350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Socket.io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15184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Real-time auction engine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32004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3200400"/>
            <a:ext cx="54864" cy="8046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2615184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JWT Auth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15184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Secure buyer verification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960120"/>
            <a:ext cx="1965960" cy="365760"/>
          </a:xfrm>
          <a:prstGeom prst="rect">
            <a:avLst/>
          </a:prstGeom>
          <a:solidFill>
            <a:srgbClr val="1A4A2A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AI / ML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13716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1371600"/>
            <a:ext cx="54864" cy="804672"/>
          </a:xfrm>
          <a:prstGeom prst="rect">
            <a:avLst/>
          </a:prstGeom>
          <a:solidFill>
            <a:srgbClr val="1A4A2A"/>
          </a:solidFill>
          <a:ln/>
        </p:spPr>
      </p:sp>
      <p:sp>
        <p:nvSpPr>
          <p:cNvPr id="37" name="Text 35"/>
          <p:cNvSpPr/>
          <p:nvPr/>
        </p:nvSpPr>
        <p:spPr>
          <a:xfrm>
            <a:off x="4764024" y="1435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Python + spaCy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6402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Manifest NLP extraction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22860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286000"/>
            <a:ext cx="54864" cy="804672"/>
          </a:xfrm>
          <a:prstGeom prst="rect">
            <a:avLst/>
          </a:prstGeom>
          <a:solidFill>
            <a:srgbClr val="1A4A2A"/>
          </a:solidFill>
          <a:ln/>
        </p:spPr>
      </p:sp>
      <p:sp>
        <p:nvSpPr>
          <p:cNvPr id="41" name="Text 39"/>
          <p:cNvSpPr/>
          <p:nvPr/>
        </p:nvSpPr>
        <p:spPr>
          <a:xfrm>
            <a:off x="4764024" y="2350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Scikit-learn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64024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Price suggestion model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17720" y="32004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3200400"/>
            <a:ext cx="54864" cy="804672"/>
          </a:xfrm>
          <a:prstGeom prst="rect">
            <a:avLst/>
          </a:prstGeom>
          <a:solidFill>
            <a:srgbClr val="1A4A2A"/>
          </a:solidFill>
          <a:ln/>
        </p:spPr>
      </p:sp>
      <p:sp>
        <p:nvSpPr>
          <p:cNvPr id="45" name="Text 43"/>
          <p:cNvSpPr/>
          <p:nvPr/>
        </p:nvSpPr>
        <p:spPr>
          <a:xfrm>
            <a:off x="4764024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Carbon API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64024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ESG CO₂ calculator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66560" y="960120"/>
            <a:ext cx="1965960" cy="365760"/>
          </a:xfrm>
          <a:prstGeom prst="rect">
            <a:avLst/>
          </a:prstGeom>
          <a:solidFill>
            <a:srgbClr val="4A1A1A"/>
          </a:solidFill>
          <a:ln/>
        </p:spPr>
      </p:sp>
      <p:sp>
        <p:nvSpPr>
          <p:cNvPr id="48" name="Text 46"/>
          <p:cNvSpPr/>
          <p:nvPr/>
        </p:nvSpPr>
        <p:spPr>
          <a:xfrm>
            <a:off x="6766560" y="960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DATA &amp; INFRA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66560" y="13716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66560" y="1371600"/>
            <a:ext cx="54864" cy="804672"/>
          </a:xfrm>
          <a:prstGeom prst="rect">
            <a:avLst/>
          </a:prstGeom>
          <a:solidFill>
            <a:srgbClr val="4A1A1A"/>
          </a:solidFill>
          <a:ln/>
        </p:spPr>
      </p:sp>
      <p:sp>
        <p:nvSpPr>
          <p:cNvPr id="51" name="Text 49"/>
          <p:cNvSpPr/>
          <p:nvPr/>
        </p:nvSpPr>
        <p:spPr>
          <a:xfrm>
            <a:off x="6912864" y="14356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PostgreSQL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912864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Lot &amp; bid database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66560" y="22860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766560" y="2286000"/>
            <a:ext cx="54864" cy="804672"/>
          </a:xfrm>
          <a:prstGeom prst="rect">
            <a:avLst/>
          </a:prstGeom>
          <a:solidFill>
            <a:srgbClr val="4A1A1A"/>
          </a:solidFill>
          <a:ln/>
        </p:spPr>
      </p:sp>
      <p:sp>
        <p:nvSpPr>
          <p:cNvPr id="55" name="Text 53"/>
          <p:cNvSpPr/>
          <p:nvPr/>
        </p:nvSpPr>
        <p:spPr>
          <a:xfrm>
            <a:off x="6912864" y="23500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Redis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912864" y="2651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Live auction state cache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766560" y="3200400"/>
            <a:ext cx="1965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766560" y="3200400"/>
            <a:ext cx="54864" cy="804672"/>
          </a:xfrm>
          <a:prstGeom prst="rect">
            <a:avLst/>
          </a:prstGeom>
          <a:solidFill>
            <a:srgbClr val="4A1A1A"/>
          </a:solidFill>
          <a:ln/>
        </p:spPr>
      </p:sp>
      <p:sp>
        <p:nvSpPr>
          <p:cNvPr id="59" name="Text 57"/>
          <p:cNvSpPr/>
          <p:nvPr/>
        </p:nvSpPr>
        <p:spPr>
          <a:xfrm>
            <a:off x="6912864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Docker + GitHub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912864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90A0"/>
                </a:solidFill>
              </a:rPr>
              <a:t>Containerised deploy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0040" y="4279392"/>
            <a:ext cx="8503920" cy="53035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57200" y="43159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4C8"/>
                </a:solidFill>
              </a:rPr>
              <a:t>📂  Full codebase, README &amp; setup guide:  </a:t>
            </a:r>
            <a:r>
              <a:rPr lang="en-US" sz="1000" b="1" dirty="0">
                <a:solidFill>
                  <a:srgbClr val="F0A500"/>
                </a:solidFill>
              </a:rPr>
              <a:t>github.com/HARI-HL/</a:t>
            </a:r>
            <a:r>
              <a:rPr lang="en-US" sz="1000" b="1" dirty="0" err="1">
                <a:solidFill>
                  <a:srgbClr val="F0A500"/>
                </a:solidFill>
              </a:rPr>
              <a:t>cargox</a:t>
            </a:r>
            <a:r>
              <a:rPr lang="en-US" sz="1000" dirty="0">
                <a:solidFill>
                  <a:srgbClr val="A0B4C8"/>
                </a:solidFill>
              </a:rPr>
              <a:t>   -  100% open source, zero paid APIs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500"/>
                </a:solidFill>
              </a:rPr>
              <a:t>BASIC PROTOTYPE- SYSTEM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CargoX 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1031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🏛️  Port Authority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581912"/>
            <a:ext cx="54864" cy="3200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960120"/>
            <a:ext cx="21031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9601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🏢  Buyer / Bidder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581912"/>
            <a:ext cx="54864" cy="3200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960120"/>
            <a:ext cx="2103120" cy="621792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9601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DP World Admin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0" y="1581912"/>
            <a:ext cx="54864" cy="3200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901952"/>
            <a:ext cx="8138160" cy="566928"/>
          </a:xfrm>
          <a:prstGeom prst="rect">
            <a:avLst/>
          </a:prstGeom>
          <a:solidFill>
            <a:srgbClr val="1A3A5F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019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</a:rPr>
              <a:t>⚡  API Gateway  +  JWT Auth  +  Socket.io Real-Time Layer  (Node.js / Express)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63040" y="2468880"/>
            <a:ext cx="54864" cy="274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2468880"/>
            <a:ext cx="54864" cy="274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394960" y="2468880"/>
            <a:ext cx="54864" cy="274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2468880"/>
            <a:ext cx="54864" cy="2743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743200"/>
            <a:ext cx="1920240" cy="914400"/>
          </a:xfrm>
          <a:prstGeom prst="rect">
            <a:avLst/>
          </a:prstGeom>
          <a:solidFill>
            <a:srgbClr val="1A3A2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27889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Auction Engine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(Redis cache)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0" y="3657600"/>
            <a:ext cx="54864" cy="256032"/>
          </a:xfrm>
          <a:prstGeom prst="rect">
            <a:avLst/>
          </a:prstGeom>
          <a:solidFill>
            <a:srgbClr val="8090A0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2743200"/>
            <a:ext cx="1920240" cy="914400"/>
          </a:xfrm>
          <a:prstGeom prst="rect">
            <a:avLst/>
          </a:prstGeom>
          <a:solidFill>
            <a:srgbClr val="1A2A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060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063240" y="27889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Manifest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Parser (spaCy)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3657600"/>
            <a:ext cx="54864" cy="256032"/>
          </a:xfrm>
          <a:prstGeom prst="rect">
            <a:avLst/>
          </a:prstGeom>
          <a:solidFill>
            <a:srgbClr val="8090A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2743200"/>
            <a:ext cx="1920240" cy="914400"/>
          </a:xfrm>
          <a:prstGeom prst="rect">
            <a:avLst/>
          </a:prstGeom>
          <a:solidFill>
            <a:srgbClr val="1A3A2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20640" y="27889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ESG CO₂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Calculator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3657600"/>
            <a:ext cx="54864" cy="256032"/>
          </a:xfrm>
          <a:prstGeom prst="rect">
            <a:avLst/>
          </a:prstGeom>
          <a:solidFill>
            <a:srgbClr val="8090A0"/>
          </a:solidFill>
          <a:ln/>
        </p:spPr>
      </p:sp>
      <p:sp>
        <p:nvSpPr>
          <p:cNvPr id="32" name="Shape 30"/>
          <p:cNvSpPr/>
          <p:nvPr/>
        </p:nvSpPr>
        <p:spPr>
          <a:xfrm>
            <a:off x="6629400" y="2743200"/>
            <a:ext cx="1920240" cy="914400"/>
          </a:xfrm>
          <a:prstGeom prst="rect">
            <a:avLst/>
          </a:prstGeom>
          <a:solidFill>
            <a:srgbClr val="2A1A3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208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278892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Geo &amp; Currency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Router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43800" y="3657600"/>
            <a:ext cx="54864" cy="256032"/>
          </a:xfrm>
          <a:prstGeom prst="rect">
            <a:avLst/>
          </a:prstGeom>
          <a:solidFill>
            <a:srgbClr val="8090A0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913632"/>
            <a:ext cx="8138160" cy="502920"/>
          </a:xfrm>
          <a:prstGeom prst="rect">
            <a:avLst/>
          </a:prstGeom>
          <a:solidFill>
            <a:srgbClr val="1A2F4A"/>
          </a:solidFill>
          <a:ln w="6350">
            <a:solidFill>
              <a:srgbClr val="4A6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13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4C8"/>
                </a:solidFill>
              </a:rPr>
              <a:t>🗄️  PostgreSQL (Lots · Bids · Users)   |   📁  File Store (Manifests)   |   📈  ESG Reporting DB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E2128-CE47-4D20-C284-705AE07D8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F32D1E01-E5AC-C4C7-C29E-4BE81F3585B0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B8E47DA1-C968-257F-2CAD-E2A07912F25D}"/>
              </a:ext>
            </a:extLst>
          </p:cNvPr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500"/>
                </a:solidFill>
              </a:rPr>
              <a:t>MARKET ANALYSIS — </a:t>
            </a:r>
            <a:r>
              <a:rPr lang="en-US" sz="1050" b="1" kern="0" spc="300" dirty="0">
                <a:solidFill>
                  <a:srgbClr val="F0A500"/>
                </a:solidFill>
              </a:rPr>
              <a:t>PESTLE</a:t>
            </a:r>
            <a:r>
              <a:rPr lang="en-US" sz="700" b="1" kern="0" spc="300" dirty="0">
                <a:solidFill>
                  <a:srgbClr val="F0A500"/>
                </a:solidFill>
              </a:rPr>
              <a:t> FRAMEWORK</a:t>
            </a:r>
            <a:endParaRPr lang="en-US" sz="700" dirty="0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190EC92B-6913-7C6E-0B92-28E1D922CD29}"/>
              </a:ext>
            </a:extLst>
          </p:cNvPr>
          <p:cNvSpPr/>
          <p:nvPr/>
        </p:nvSpPr>
        <p:spPr>
          <a:xfrm>
            <a:off x="365760" y="3840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Forces Driving CargoX Adoption</a:t>
            </a:r>
            <a:endParaRPr lang="en-US" sz="2000" dirty="0"/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F03E91E0-15CC-4F40-0FF8-8F770FB81E6B}"/>
              </a:ext>
            </a:extLst>
          </p:cNvPr>
          <p:cNvSpPr/>
          <p:nvPr/>
        </p:nvSpPr>
        <p:spPr>
          <a:xfrm>
            <a:off x="6949440" y="228600"/>
            <a:ext cx="1920240" cy="6858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50FC1BCF-E77E-95F4-7C86-4B93188F9EEB}"/>
              </a:ext>
            </a:extLst>
          </p:cNvPr>
          <p:cNvSpPr/>
          <p:nvPr/>
        </p:nvSpPr>
        <p:spPr>
          <a:xfrm>
            <a:off x="6995160" y="256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0A500"/>
                </a:solidFill>
              </a:rPr>
              <a:t>TAM</a:t>
            </a:r>
            <a:endParaRPr lang="en-US" sz="70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A2F5EC8C-00AA-611C-6B12-25150AAC7595}"/>
              </a:ext>
            </a:extLst>
          </p:cNvPr>
          <p:cNvSpPr/>
          <p:nvPr/>
        </p:nvSpPr>
        <p:spPr>
          <a:xfrm>
            <a:off x="6995160" y="4389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$1.8T</a:t>
            </a:r>
            <a:endParaRPr lang="en-US" sz="2200" dirty="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5D8957BA-0ED4-F375-72C9-110FD57B52B9}"/>
              </a:ext>
            </a:extLst>
          </p:cNvPr>
          <p:cNvSpPr/>
          <p:nvPr/>
        </p:nvSpPr>
        <p:spPr>
          <a:xfrm>
            <a:off x="274320" y="914400"/>
            <a:ext cx="2788920" cy="17830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0941145A-7BB2-6164-ED1B-6BFA986E6426}"/>
              </a:ext>
            </a:extLst>
          </p:cNvPr>
          <p:cNvSpPr/>
          <p:nvPr/>
        </p:nvSpPr>
        <p:spPr>
          <a:xfrm>
            <a:off x="274320" y="914400"/>
            <a:ext cx="420624" cy="1783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603C3C8D-E1FE-65EE-5554-A5DC3F9B0582}"/>
              </a:ext>
            </a:extLst>
          </p:cNvPr>
          <p:cNvSpPr/>
          <p:nvPr/>
        </p:nvSpPr>
        <p:spPr>
          <a:xfrm>
            <a:off x="274320" y="141732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200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4DE6F2C8-F9CB-D413-0B69-4F4FD4E58D35}"/>
              </a:ext>
            </a:extLst>
          </p:cNvPr>
          <p:cNvSpPr/>
          <p:nvPr/>
        </p:nvSpPr>
        <p:spPr>
          <a:xfrm>
            <a:off x="2560320" y="1005840"/>
            <a:ext cx="438912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12AD1DC2-2F74-F9F3-5E2B-B855BACBCF53}"/>
              </a:ext>
            </a:extLst>
          </p:cNvPr>
          <p:cNvSpPr/>
          <p:nvPr/>
        </p:nvSpPr>
        <p:spPr>
          <a:xfrm>
            <a:off x="2560320" y="10058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FFFFF"/>
                </a:solidFill>
              </a:rPr>
              <a:t>HIGH</a:t>
            </a:r>
            <a:endParaRPr lang="en-US" sz="600" dirty="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920E3052-9829-A6A1-6524-D5C69114D211}"/>
              </a:ext>
            </a:extLst>
          </p:cNvPr>
          <p:cNvSpPr/>
          <p:nvPr/>
        </p:nvSpPr>
        <p:spPr>
          <a:xfrm>
            <a:off x="786384" y="100584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C0392B"/>
                </a:solidFill>
              </a:rPr>
              <a:t>POLITICAL</a:t>
            </a:r>
            <a:endParaRPr lang="en-US" sz="750" dirty="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3DD1496D-6358-3F93-E3E9-591B9FD32152}"/>
              </a:ext>
            </a:extLst>
          </p:cNvPr>
          <p:cNvSpPr/>
          <p:nvPr/>
        </p:nvSpPr>
        <p:spPr>
          <a:xfrm>
            <a:off x="786384" y="126187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Govts mandating digital customs &amp; port transparency</a:t>
            </a:r>
            <a:endParaRPr lang="en-US" sz="95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B92B5C11-F089-9428-24FC-AC9402EAAD5B}"/>
              </a:ext>
            </a:extLst>
          </p:cNvPr>
          <p:cNvSpPr/>
          <p:nvPr/>
        </p:nvSpPr>
        <p:spPr>
          <a:xfrm>
            <a:off x="786384" y="178308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B4C8"/>
                </a:solidFill>
              </a:rPr>
              <a:t>WTO Trade Facilitation Agreement — 164 countries (WTO, 2022)</a:t>
            </a:r>
            <a:endParaRPr lang="en-US" sz="750" dirty="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DF467F7A-6DF2-EB80-F816-1B7354D23F97}"/>
              </a:ext>
            </a:extLst>
          </p:cNvPr>
          <p:cNvSpPr/>
          <p:nvPr/>
        </p:nvSpPr>
        <p:spPr>
          <a:xfrm>
            <a:off x="3218688" y="914400"/>
            <a:ext cx="2788920" cy="17830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89BDFC50-8D28-7048-0D74-4ADE4A256C58}"/>
              </a:ext>
            </a:extLst>
          </p:cNvPr>
          <p:cNvSpPr/>
          <p:nvPr/>
        </p:nvSpPr>
        <p:spPr>
          <a:xfrm>
            <a:off x="3218688" y="914400"/>
            <a:ext cx="420624" cy="17830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797B948C-4423-6609-73B2-328186B0D648}"/>
              </a:ext>
            </a:extLst>
          </p:cNvPr>
          <p:cNvSpPr/>
          <p:nvPr/>
        </p:nvSpPr>
        <p:spPr>
          <a:xfrm>
            <a:off x="3218688" y="141732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F1F58547-C8B9-E421-BAE9-E92025E6BA80}"/>
              </a:ext>
            </a:extLst>
          </p:cNvPr>
          <p:cNvSpPr/>
          <p:nvPr/>
        </p:nvSpPr>
        <p:spPr>
          <a:xfrm>
            <a:off x="5504688" y="1005840"/>
            <a:ext cx="438912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7DFB3FFA-167E-E26B-9257-0DC52C662642}"/>
              </a:ext>
            </a:extLst>
          </p:cNvPr>
          <p:cNvSpPr/>
          <p:nvPr/>
        </p:nvSpPr>
        <p:spPr>
          <a:xfrm>
            <a:off x="5504688" y="10058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FFFFF"/>
                </a:solidFill>
              </a:rPr>
              <a:t>HIGH</a:t>
            </a:r>
            <a:endParaRPr lang="en-US" sz="6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B679ED50-4CE0-4272-C2E7-28278D1472F2}"/>
              </a:ext>
            </a:extLst>
          </p:cNvPr>
          <p:cNvSpPr/>
          <p:nvPr/>
        </p:nvSpPr>
        <p:spPr>
          <a:xfrm>
            <a:off x="3730752" y="100584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0A500"/>
                </a:solidFill>
              </a:rPr>
              <a:t>ECONOMIC</a:t>
            </a:r>
            <a:endParaRPr lang="en-US" sz="750" dirty="0"/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4FA7A1E1-EBCD-CBED-1635-517256ECEB57}"/>
              </a:ext>
            </a:extLst>
          </p:cNvPr>
          <p:cNvSpPr/>
          <p:nvPr/>
        </p:nvSpPr>
        <p:spPr>
          <a:xfrm>
            <a:off x="3730752" y="126187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 delays cost global trade $7.5B/year in idle cargo</a:t>
            </a:r>
            <a:endParaRPr lang="en-US" sz="950" dirty="0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CE7BC9C6-EBDB-E900-16F7-7FC1DEED1EC3}"/>
              </a:ext>
            </a:extLst>
          </p:cNvPr>
          <p:cNvSpPr/>
          <p:nvPr/>
        </p:nvSpPr>
        <p:spPr>
          <a:xfrm>
            <a:off x="3730752" y="178308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B4C8"/>
                </a:solidFill>
              </a:rPr>
              <a:t>$6T+ seaborne trade; 11M+ TEUs unclaimed annually (ITF/OECD, 2022)</a:t>
            </a:r>
            <a:endParaRPr lang="en-US" sz="750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39DBD1EB-4073-52DF-D80C-752A95F6ADC5}"/>
              </a:ext>
            </a:extLst>
          </p:cNvPr>
          <p:cNvSpPr/>
          <p:nvPr/>
        </p:nvSpPr>
        <p:spPr>
          <a:xfrm>
            <a:off x="6163056" y="914400"/>
            <a:ext cx="2788920" cy="17830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655290B0-1F5D-5D05-4288-D91DCA3E85AD}"/>
              </a:ext>
            </a:extLst>
          </p:cNvPr>
          <p:cNvSpPr/>
          <p:nvPr/>
        </p:nvSpPr>
        <p:spPr>
          <a:xfrm>
            <a:off x="6163056" y="914400"/>
            <a:ext cx="420624" cy="17830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A7641018-1E3A-83AC-F373-3576C57D8E0E}"/>
              </a:ext>
            </a:extLst>
          </p:cNvPr>
          <p:cNvSpPr/>
          <p:nvPr/>
        </p:nvSpPr>
        <p:spPr>
          <a:xfrm>
            <a:off x="6163056" y="141732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6396A00F-5155-F5C0-0528-7340326F0FCF}"/>
              </a:ext>
            </a:extLst>
          </p:cNvPr>
          <p:cNvSpPr/>
          <p:nvPr/>
        </p:nvSpPr>
        <p:spPr>
          <a:xfrm>
            <a:off x="8449056" y="1005840"/>
            <a:ext cx="438912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6" name="Text 26">
            <a:extLst>
              <a:ext uri="{FF2B5EF4-FFF2-40B4-BE49-F238E27FC236}">
                <a16:creationId xmlns:a16="http://schemas.microsoft.com/office/drawing/2014/main" id="{EBDCAD88-AD58-62EF-DA08-C3C84DA68728}"/>
              </a:ext>
            </a:extLst>
          </p:cNvPr>
          <p:cNvSpPr/>
          <p:nvPr/>
        </p:nvSpPr>
        <p:spPr>
          <a:xfrm>
            <a:off x="8449056" y="1005840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FFFFF"/>
                </a:solidFill>
              </a:rPr>
              <a:t>MED</a:t>
            </a:r>
            <a:endParaRPr lang="en-US" sz="600" dirty="0"/>
          </a:p>
        </p:txBody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DEABBF30-12DD-B4D9-8AEC-43E0F682DFF2}"/>
              </a:ext>
            </a:extLst>
          </p:cNvPr>
          <p:cNvSpPr/>
          <p:nvPr/>
        </p:nvSpPr>
        <p:spPr>
          <a:xfrm>
            <a:off x="6675120" y="100584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2980B9"/>
                </a:solidFill>
              </a:rPr>
              <a:t>SOCIAL</a:t>
            </a:r>
            <a:endParaRPr lang="en-US" sz="750" dirty="0"/>
          </a:p>
        </p:txBody>
      </p:sp>
      <p:sp>
        <p:nvSpPr>
          <p:cNvPr id="68" name="Text 28">
            <a:extLst>
              <a:ext uri="{FF2B5EF4-FFF2-40B4-BE49-F238E27FC236}">
                <a16:creationId xmlns:a16="http://schemas.microsoft.com/office/drawing/2014/main" id="{F9C2DACF-CDC3-DABE-6484-BEB183EDDEF1}"/>
              </a:ext>
            </a:extLst>
          </p:cNvPr>
          <p:cNvSpPr/>
          <p:nvPr/>
        </p:nvSpPr>
        <p:spPr>
          <a:xfrm>
            <a:off x="6675120" y="126187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SMEs demand fairer, accessible auction channels</a:t>
            </a:r>
            <a:endParaRPr lang="en-US" sz="950" dirty="0"/>
          </a:p>
        </p:txBody>
      </p:sp>
      <p:sp>
        <p:nvSpPr>
          <p:cNvPr id="69" name="Text 29">
            <a:extLst>
              <a:ext uri="{FF2B5EF4-FFF2-40B4-BE49-F238E27FC236}">
                <a16:creationId xmlns:a16="http://schemas.microsoft.com/office/drawing/2014/main" id="{4BFAF3F6-A099-6A78-CA35-DB7F8B0B57CE}"/>
              </a:ext>
            </a:extLst>
          </p:cNvPr>
          <p:cNvSpPr/>
          <p:nvPr/>
        </p:nvSpPr>
        <p:spPr>
          <a:xfrm>
            <a:off x="6675120" y="178308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B4C8"/>
                </a:solidFill>
              </a:rPr>
              <a:t>40% of SME exporters lack port auction access (World Bank, 2022)</a:t>
            </a:r>
            <a:endParaRPr lang="en-US" sz="750" dirty="0"/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713F2467-84D8-62AE-5447-8F18A0BA0B6E}"/>
              </a:ext>
            </a:extLst>
          </p:cNvPr>
          <p:cNvSpPr/>
          <p:nvPr/>
        </p:nvSpPr>
        <p:spPr>
          <a:xfrm>
            <a:off x="274320" y="2852928"/>
            <a:ext cx="2788920" cy="17830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Shape 31">
            <a:extLst>
              <a:ext uri="{FF2B5EF4-FFF2-40B4-BE49-F238E27FC236}">
                <a16:creationId xmlns:a16="http://schemas.microsoft.com/office/drawing/2014/main" id="{254B9FE9-7F4E-D9C2-19B1-8869B163A38E}"/>
              </a:ext>
            </a:extLst>
          </p:cNvPr>
          <p:cNvSpPr/>
          <p:nvPr/>
        </p:nvSpPr>
        <p:spPr>
          <a:xfrm>
            <a:off x="274320" y="2852928"/>
            <a:ext cx="420624" cy="1783080"/>
          </a:xfrm>
          <a:prstGeom prst="rect">
            <a:avLst/>
          </a:prstGeom>
          <a:solidFill>
            <a:srgbClr val="22C97A"/>
          </a:solidFill>
          <a:ln/>
        </p:spPr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F3878C0D-231F-58E6-CCB1-77BBBA072485}"/>
              </a:ext>
            </a:extLst>
          </p:cNvPr>
          <p:cNvSpPr/>
          <p:nvPr/>
        </p:nvSpPr>
        <p:spPr>
          <a:xfrm>
            <a:off x="274320" y="3355848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763EAEAB-7C82-F29D-1233-8CD4AAC0BEF1}"/>
              </a:ext>
            </a:extLst>
          </p:cNvPr>
          <p:cNvSpPr/>
          <p:nvPr/>
        </p:nvSpPr>
        <p:spPr>
          <a:xfrm>
            <a:off x="2560320" y="2944368"/>
            <a:ext cx="438912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1ECF815C-A836-ED64-5035-3C6C84A3D8E1}"/>
              </a:ext>
            </a:extLst>
          </p:cNvPr>
          <p:cNvSpPr/>
          <p:nvPr/>
        </p:nvSpPr>
        <p:spPr>
          <a:xfrm>
            <a:off x="2560320" y="29443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FFFFF"/>
                </a:solidFill>
              </a:rPr>
              <a:t>HIGH</a:t>
            </a:r>
            <a:endParaRPr lang="en-US" sz="600" dirty="0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DCFF3A29-8808-B2D7-5CA3-1E2CAED654A8}"/>
              </a:ext>
            </a:extLst>
          </p:cNvPr>
          <p:cNvSpPr/>
          <p:nvPr/>
        </p:nvSpPr>
        <p:spPr>
          <a:xfrm>
            <a:off x="786384" y="29443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22C97A"/>
                </a:solidFill>
              </a:rPr>
              <a:t>TECHNOLOGICAL</a:t>
            </a:r>
            <a:endParaRPr lang="en-US" sz="750" dirty="0"/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75DBB1CD-7176-0EFD-BD37-163FE029A146}"/>
              </a:ext>
            </a:extLst>
          </p:cNvPr>
          <p:cNvSpPr/>
          <p:nvPr/>
        </p:nvSpPr>
        <p:spPr>
          <a:xfrm>
            <a:off x="786384" y="320040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&amp; real-time bidding mature enough for logistics ops</a:t>
            </a:r>
            <a:endParaRPr lang="en-US" sz="950" dirty="0"/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46C94F6F-75E6-9255-245D-3F1379D85457}"/>
              </a:ext>
            </a:extLst>
          </p:cNvPr>
          <p:cNvSpPr/>
          <p:nvPr/>
        </p:nvSpPr>
        <p:spPr>
          <a:xfrm>
            <a:off x="786384" y="3721608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B4C8"/>
                </a:solidFill>
              </a:rPr>
              <a:t>Logistics tech growing at 11.2% CAGR (MarketsandMarkets, 2023)</a:t>
            </a:r>
            <a:endParaRPr lang="en-US" sz="750" dirty="0"/>
          </a:p>
        </p:txBody>
      </p:sp>
      <p:sp>
        <p:nvSpPr>
          <p:cNvPr id="78" name="Shape 38">
            <a:extLst>
              <a:ext uri="{FF2B5EF4-FFF2-40B4-BE49-F238E27FC236}">
                <a16:creationId xmlns:a16="http://schemas.microsoft.com/office/drawing/2014/main" id="{C875D3CC-5DC1-55AD-2472-3E9941FE39DC}"/>
              </a:ext>
            </a:extLst>
          </p:cNvPr>
          <p:cNvSpPr/>
          <p:nvPr/>
        </p:nvSpPr>
        <p:spPr>
          <a:xfrm>
            <a:off x="3218688" y="2852928"/>
            <a:ext cx="2788920" cy="17830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9" name="Shape 39">
            <a:extLst>
              <a:ext uri="{FF2B5EF4-FFF2-40B4-BE49-F238E27FC236}">
                <a16:creationId xmlns:a16="http://schemas.microsoft.com/office/drawing/2014/main" id="{42BB9E63-BD10-F0E9-DC14-69267A498F61}"/>
              </a:ext>
            </a:extLst>
          </p:cNvPr>
          <p:cNvSpPr/>
          <p:nvPr/>
        </p:nvSpPr>
        <p:spPr>
          <a:xfrm>
            <a:off x="3218688" y="2852928"/>
            <a:ext cx="420624" cy="17830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0" name="Text 40">
            <a:extLst>
              <a:ext uri="{FF2B5EF4-FFF2-40B4-BE49-F238E27FC236}">
                <a16:creationId xmlns:a16="http://schemas.microsoft.com/office/drawing/2014/main" id="{4394180D-8F83-707B-0DA1-9C2E7BCE03D2}"/>
              </a:ext>
            </a:extLst>
          </p:cNvPr>
          <p:cNvSpPr/>
          <p:nvPr/>
        </p:nvSpPr>
        <p:spPr>
          <a:xfrm>
            <a:off x="3218688" y="3355848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200" dirty="0"/>
          </a:p>
        </p:txBody>
      </p:sp>
      <p:sp>
        <p:nvSpPr>
          <p:cNvPr id="81" name="Shape 41">
            <a:extLst>
              <a:ext uri="{FF2B5EF4-FFF2-40B4-BE49-F238E27FC236}">
                <a16:creationId xmlns:a16="http://schemas.microsoft.com/office/drawing/2014/main" id="{5314AE9D-BDF0-CE6B-31F6-1D50890C8946}"/>
              </a:ext>
            </a:extLst>
          </p:cNvPr>
          <p:cNvSpPr/>
          <p:nvPr/>
        </p:nvSpPr>
        <p:spPr>
          <a:xfrm>
            <a:off x="5504688" y="2944368"/>
            <a:ext cx="438912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2" name="Text 42">
            <a:extLst>
              <a:ext uri="{FF2B5EF4-FFF2-40B4-BE49-F238E27FC236}">
                <a16:creationId xmlns:a16="http://schemas.microsoft.com/office/drawing/2014/main" id="{1096A1CD-0733-4767-23A9-042A54EEB666}"/>
              </a:ext>
            </a:extLst>
          </p:cNvPr>
          <p:cNvSpPr/>
          <p:nvPr/>
        </p:nvSpPr>
        <p:spPr>
          <a:xfrm>
            <a:off x="5504688" y="29443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FFFFF"/>
                </a:solidFill>
              </a:rPr>
              <a:t>MED</a:t>
            </a:r>
            <a:endParaRPr lang="en-US" sz="600" dirty="0"/>
          </a:p>
        </p:txBody>
      </p:sp>
      <p:sp>
        <p:nvSpPr>
          <p:cNvPr id="83" name="Text 43">
            <a:extLst>
              <a:ext uri="{FF2B5EF4-FFF2-40B4-BE49-F238E27FC236}">
                <a16:creationId xmlns:a16="http://schemas.microsoft.com/office/drawing/2014/main" id="{422ADB86-6611-FCE0-9DD5-B916653DA099}"/>
              </a:ext>
            </a:extLst>
          </p:cNvPr>
          <p:cNvSpPr/>
          <p:nvPr/>
        </p:nvSpPr>
        <p:spPr>
          <a:xfrm>
            <a:off x="3730752" y="29443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E44AD"/>
                </a:solidFill>
              </a:rPr>
              <a:t>LEGAL</a:t>
            </a:r>
            <a:endParaRPr lang="en-US" sz="750" dirty="0"/>
          </a:p>
        </p:txBody>
      </p:sp>
      <p:sp>
        <p:nvSpPr>
          <p:cNvPr id="84" name="Text 44">
            <a:extLst>
              <a:ext uri="{FF2B5EF4-FFF2-40B4-BE49-F238E27FC236}">
                <a16:creationId xmlns:a16="http://schemas.microsoft.com/office/drawing/2014/main" id="{3BE07813-F577-4F1C-0103-AB7A1E4D4396}"/>
              </a:ext>
            </a:extLst>
          </p:cNvPr>
          <p:cNvSpPr/>
          <p:nvPr/>
        </p:nvSpPr>
        <p:spPr>
          <a:xfrm>
            <a:off x="3730752" y="320040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Customs Acts in IN, UAE, UK enable e-auction mandates</a:t>
            </a:r>
            <a:endParaRPr lang="en-US" sz="950" dirty="0"/>
          </a:p>
        </p:txBody>
      </p:sp>
      <p:sp>
        <p:nvSpPr>
          <p:cNvPr id="85" name="Text 45">
            <a:extLst>
              <a:ext uri="{FF2B5EF4-FFF2-40B4-BE49-F238E27FC236}">
                <a16:creationId xmlns:a16="http://schemas.microsoft.com/office/drawing/2014/main" id="{6C1AAA93-6EF4-26E1-2FBB-3E2B7480F4E0}"/>
              </a:ext>
            </a:extLst>
          </p:cNvPr>
          <p:cNvSpPr/>
          <p:nvPr/>
        </p:nvSpPr>
        <p:spPr>
          <a:xfrm>
            <a:off x="3730752" y="3721608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B4C8"/>
                </a:solidFill>
              </a:rPr>
              <a:t>India Customs Act §150 authorises digital cargo auctions (CBIC, 2021)</a:t>
            </a:r>
            <a:endParaRPr lang="en-US" sz="750" dirty="0"/>
          </a:p>
        </p:txBody>
      </p:sp>
      <p:sp>
        <p:nvSpPr>
          <p:cNvPr id="86" name="Shape 46">
            <a:extLst>
              <a:ext uri="{FF2B5EF4-FFF2-40B4-BE49-F238E27FC236}">
                <a16:creationId xmlns:a16="http://schemas.microsoft.com/office/drawing/2014/main" id="{3A113822-FCF5-4A10-4C5B-5A63E273552E}"/>
              </a:ext>
            </a:extLst>
          </p:cNvPr>
          <p:cNvSpPr/>
          <p:nvPr/>
        </p:nvSpPr>
        <p:spPr>
          <a:xfrm>
            <a:off x="6163056" y="2852928"/>
            <a:ext cx="2788920" cy="17830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7" name="Shape 47">
            <a:extLst>
              <a:ext uri="{FF2B5EF4-FFF2-40B4-BE49-F238E27FC236}">
                <a16:creationId xmlns:a16="http://schemas.microsoft.com/office/drawing/2014/main" id="{020BDC50-D800-CD03-3A29-4F4205CED9F4}"/>
              </a:ext>
            </a:extLst>
          </p:cNvPr>
          <p:cNvSpPr/>
          <p:nvPr/>
        </p:nvSpPr>
        <p:spPr>
          <a:xfrm>
            <a:off x="6163056" y="2852928"/>
            <a:ext cx="420624" cy="1783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8" name="Text 48">
            <a:extLst>
              <a:ext uri="{FF2B5EF4-FFF2-40B4-BE49-F238E27FC236}">
                <a16:creationId xmlns:a16="http://schemas.microsoft.com/office/drawing/2014/main" id="{76FC55D4-DA5F-EF2D-D420-F8619DBC830B}"/>
              </a:ext>
            </a:extLst>
          </p:cNvPr>
          <p:cNvSpPr/>
          <p:nvPr/>
        </p:nvSpPr>
        <p:spPr>
          <a:xfrm>
            <a:off x="6163056" y="3355848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89" name="Shape 49">
            <a:extLst>
              <a:ext uri="{FF2B5EF4-FFF2-40B4-BE49-F238E27FC236}">
                <a16:creationId xmlns:a16="http://schemas.microsoft.com/office/drawing/2014/main" id="{A786B3BB-979C-55F7-9452-B86007512D1C}"/>
              </a:ext>
            </a:extLst>
          </p:cNvPr>
          <p:cNvSpPr/>
          <p:nvPr/>
        </p:nvSpPr>
        <p:spPr>
          <a:xfrm>
            <a:off x="8449056" y="2944368"/>
            <a:ext cx="438912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0" name="Text 50">
            <a:extLst>
              <a:ext uri="{FF2B5EF4-FFF2-40B4-BE49-F238E27FC236}">
                <a16:creationId xmlns:a16="http://schemas.microsoft.com/office/drawing/2014/main" id="{2E2258E7-6A47-F58D-8AE9-DDEB28092F4B}"/>
              </a:ext>
            </a:extLst>
          </p:cNvPr>
          <p:cNvSpPr/>
          <p:nvPr/>
        </p:nvSpPr>
        <p:spPr>
          <a:xfrm>
            <a:off x="8449056" y="29443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FFFFF"/>
                </a:solidFill>
              </a:rPr>
              <a:t>HIGH</a:t>
            </a:r>
            <a:endParaRPr lang="en-US" sz="600" dirty="0"/>
          </a:p>
        </p:txBody>
      </p:sp>
      <p:sp>
        <p:nvSpPr>
          <p:cNvPr id="91" name="Text 51">
            <a:extLst>
              <a:ext uri="{FF2B5EF4-FFF2-40B4-BE49-F238E27FC236}">
                <a16:creationId xmlns:a16="http://schemas.microsoft.com/office/drawing/2014/main" id="{826D8B91-EC81-D2F7-DC19-8360F910C290}"/>
              </a:ext>
            </a:extLst>
          </p:cNvPr>
          <p:cNvSpPr/>
          <p:nvPr/>
        </p:nvSpPr>
        <p:spPr>
          <a:xfrm>
            <a:off x="6675120" y="29443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27AE60"/>
                </a:solidFill>
              </a:rPr>
              <a:t>ENVIRONMENTAL</a:t>
            </a:r>
            <a:endParaRPr lang="en-US" sz="750" dirty="0"/>
          </a:p>
        </p:txBody>
      </p:sp>
      <p:sp>
        <p:nvSpPr>
          <p:cNvPr id="92" name="Text 52">
            <a:extLst>
              <a:ext uri="{FF2B5EF4-FFF2-40B4-BE49-F238E27FC236}">
                <a16:creationId xmlns:a16="http://schemas.microsoft.com/office/drawing/2014/main" id="{0B0E12F9-ED35-31C8-5EE2-6457FC3219EB}"/>
              </a:ext>
            </a:extLst>
          </p:cNvPr>
          <p:cNvSpPr/>
          <p:nvPr/>
        </p:nvSpPr>
        <p:spPr>
          <a:xfrm>
            <a:off x="6675120" y="320040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IMO 2050 net-zero pushes ports toward ESG accountability</a:t>
            </a:r>
            <a:endParaRPr lang="en-US" sz="950" dirty="0"/>
          </a:p>
        </p:txBody>
      </p:sp>
      <p:sp>
        <p:nvSpPr>
          <p:cNvPr id="93" name="Text 53">
            <a:extLst>
              <a:ext uri="{FF2B5EF4-FFF2-40B4-BE49-F238E27FC236}">
                <a16:creationId xmlns:a16="http://schemas.microsoft.com/office/drawing/2014/main" id="{73DFDB36-B531-CCC1-9065-720CA9C4DF23}"/>
              </a:ext>
            </a:extLst>
          </p:cNvPr>
          <p:cNvSpPr/>
          <p:nvPr/>
        </p:nvSpPr>
        <p:spPr>
          <a:xfrm>
            <a:off x="6675120" y="3721608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A0B4C8"/>
                </a:solidFill>
              </a:rPr>
              <a:t>Shipping = 2.89% global CO₂; reuse over disposal key lever (IMO, 2023)</a:t>
            </a:r>
            <a:endParaRPr lang="en-US" sz="750" dirty="0"/>
          </a:p>
        </p:txBody>
      </p:sp>
      <p:sp>
        <p:nvSpPr>
          <p:cNvPr id="94" name="Shape 54">
            <a:extLst>
              <a:ext uri="{FF2B5EF4-FFF2-40B4-BE49-F238E27FC236}">
                <a16:creationId xmlns:a16="http://schemas.microsoft.com/office/drawing/2014/main" id="{18AA84AB-51EE-B4EB-F266-230C73E749AF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95" name="Text 55">
            <a:extLst>
              <a:ext uri="{FF2B5EF4-FFF2-40B4-BE49-F238E27FC236}">
                <a16:creationId xmlns:a16="http://schemas.microsoft.com/office/drawing/2014/main" id="{5EE6C345-2A40-F1A1-1001-BA96DA1E6C8F}"/>
              </a:ext>
            </a:extLst>
          </p:cNvPr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1304229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>
            <a:extLst>
              <a:ext uri="{FF2B5EF4-FFF2-40B4-BE49-F238E27FC236}">
                <a16:creationId xmlns:a16="http://schemas.microsoft.com/office/drawing/2014/main" id="{09B3AC23-A6D4-67DC-64CB-B76A7BEC22E6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AC1C8642-2222-629E-CA74-3DB7A1AB30F7}"/>
              </a:ext>
            </a:extLst>
          </p:cNvPr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500"/>
                </a:solidFill>
              </a:rPr>
              <a:t>BUSINESS CASE — COST &amp; REVENUE MODEL</a:t>
            </a:r>
            <a:endParaRPr lang="en-US" sz="700" dirty="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09D01657-086A-EC45-8F84-733B506508FB}"/>
              </a:ext>
            </a:extLst>
          </p:cNvPr>
          <p:cNvSpPr/>
          <p:nvPr/>
        </p:nvSpPr>
        <p:spPr>
          <a:xfrm>
            <a:off x="365760" y="3840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→ Product → Scale</a:t>
            </a:r>
            <a:endParaRPr lang="en-US" sz="2000" dirty="0"/>
          </a:p>
        </p:txBody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891C1652-8265-C9EC-8158-B4B5C6D1B369}"/>
              </a:ext>
            </a:extLst>
          </p:cNvPr>
          <p:cNvSpPr/>
          <p:nvPr/>
        </p:nvSpPr>
        <p:spPr>
          <a:xfrm>
            <a:off x="274320" y="896112"/>
            <a:ext cx="2788920" cy="38587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59003102-D791-4ED5-75FB-79536777FD1C}"/>
              </a:ext>
            </a:extLst>
          </p:cNvPr>
          <p:cNvSpPr/>
          <p:nvPr/>
        </p:nvSpPr>
        <p:spPr>
          <a:xfrm>
            <a:off x="274320" y="896112"/>
            <a:ext cx="278892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875D3613-B3C4-BEEE-0AB6-4A0FB0422102}"/>
              </a:ext>
            </a:extLst>
          </p:cNvPr>
          <p:cNvSpPr/>
          <p:nvPr/>
        </p:nvSpPr>
        <p:spPr>
          <a:xfrm>
            <a:off x="411480" y="978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0A500"/>
                </a:solidFill>
              </a:rPr>
              <a:t>PROTOTYPE</a:t>
            </a:r>
            <a:endParaRPr lang="en-US" sz="10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970A7216-D5E6-CB0E-889C-6FBCEC30D91D}"/>
              </a:ext>
            </a:extLst>
          </p:cNvPr>
          <p:cNvSpPr/>
          <p:nvPr/>
        </p:nvSpPr>
        <p:spPr>
          <a:xfrm>
            <a:off x="411480" y="12618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090A0"/>
                </a:solidFill>
              </a:rPr>
              <a:t>What we built tonight</a:t>
            </a:r>
            <a:endParaRPr lang="en-US" sz="800" dirty="0"/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647B27FC-C5DA-92E2-DE12-A017A008A36F}"/>
              </a:ext>
            </a:extLst>
          </p:cNvPr>
          <p:cNvSpPr/>
          <p:nvPr/>
        </p:nvSpPr>
        <p:spPr>
          <a:xfrm>
            <a:off x="411480" y="1554480"/>
            <a:ext cx="2514600" cy="566928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50586E4A-564F-2287-4D75-55BD4596C24D}"/>
              </a:ext>
            </a:extLst>
          </p:cNvPr>
          <p:cNvSpPr/>
          <p:nvPr/>
        </p:nvSpPr>
        <p:spPr>
          <a:xfrm>
            <a:off x="411480" y="15727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2600" dirty="0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FEB98C1-CFA3-B0A9-D35E-9640AB1AEBBD}"/>
              </a:ext>
            </a:extLst>
          </p:cNvPr>
          <p:cNvSpPr/>
          <p:nvPr/>
        </p:nvSpPr>
        <p:spPr>
          <a:xfrm>
            <a:off x="1874520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</a:rPr>
              <a:t>one-time</a:t>
            </a:r>
            <a:endParaRPr lang="en-US" sz="900" dirty="0"/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BAB3D157-9EF0-1285-C3A7-07ACD78AFDA9}"/>
              </a:ext>
            </a:extLst>
          </p:cNvPr>
          <p:cNvSpPr/>
          <p:nvPr/>
        </p:nvSpPr>
        <p:spPr>
          <a:xfrm>
            <a:off x="411480" y="22128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090A0"/>
                </a:solidFill>
              </a:rPr>
              <a:t>TECH STACK</a:t>
            </a:r>
            <a:endParaRPr lang="en-US" sz="650" dirty="0"/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4342CEB7-5587-6362-340B-C5857002D7E6}"/>
              </a:ext>
            </a:extLst>
          </p:cNvPr>
          <p:cNvSpPr/>
          <p:nvPr/>
        </p:nvSpPr>
        <p:spPr>
          <a:xfrm>
            <a:off x="438912" y="248716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70D3947D-A783-96A7-AE57-868592E98EF5}"/>
              </a:ext>
            </a:extLst>
          </p:cNvPr>
          <p:cNvSpPr/>
          <p:nvPr/>
        </p:nvSpPr>
        <p:spPr>
          <a:xfrm>
            <a:off x="594360" y="2441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HTML + CSS + JS (vanilla)</a:t>
            </a:r>
            <a:endParaRPr lang="en-US" sz="850" dirty="0"/>
          </a:p>
        </p:txBody>
      </p:sp>
      <p:sp>
        <p:nvSpPr>
          <p:cNvPr id="62" name="Shape 13">
            <a:extLst>
              <a:ext uri="{FF2B5EF4-FFF2-40B4-BE49-F238E27FC236}">
                <a16:creationId xmlns:a16="http://schemas.microsoft.com/office/drawing/2014/main" id="{A564E418-4C10-1391-0026-522CB2C1F307}"/>
              </a:ext>
            </a:extLst>
          </p:cNvPr>
          <p:cNvSpPr/>
          <p:nvPr/>
        </p:nvSpPr>
        <p:spPr>
          <a:xfrm>
            <a:off x="438912" y="2834640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90AAFF21-FDFD-5815-D82F-0BA58AB30E3E}"/>
              </a:ext>
            </a:extLst>
          </p:cNvPr>
          <p:cNvSpPr/>
          <p:nvPr/>
        </p:nvSpPr>
        <p:spPr>
          <a:xfrm>
            <a:off x="594360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Mock data &amp; static UI</a:t>
            </a:r>
            <a:endParaRPr lang="en-US" sz="850" dirty="0"/>
          </a:p>
        </p:txBody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C015A0FD-5794-15D2-A110-68ADFAEEAD86}"/>
              </a:ext>
            </a:extLst>
          </p:cNvPr>
          <p:cNvSpPr/>
          <p:nvPr/>
        </p:nvSpPr>
        <p:spPr>
          <a:xfrm>
            <a:off x="438912" y="3182112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CC4BBAFA-FD55-C759-6952-3A6EB73914A7}"/>
              </a:ext>
            </a:extLst>
          </p:cNvPr>
          <p:cNvSpPr/>
          <p:nvPr/>
        </p:nvSpPr>
        <p:spPr>
          <a:xfrm>
            <a:off x="594360" y="31363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No backend / no DB</a:t>
            </a:r>
            <a:endParaRPr lang="en-US" sz="850" dirty="0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B72DBDE6-BD1D-C300-1E56-11D0D9D26241}"/>
              </a:ext>
            </a:extLst>
          </p:cNvPr>
          <p:cNvSpPr/>
          <p:nvPr/>
        </p:nvSpPr>
        <p:spPr>
          <a:xfrm>
            <a:off x="438912" y="3529584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C74CB0D2-0AA3-E87C-96B1-84C7FC26215F}"/>
              </a:ext>
            </a:extLst>
          </p:cNvPr>
          <p:cNvSpPr/>
          <p:nvPr/>
        </p:nvSpPr>
        <p:spPr>
          <a:xfrm>
            <a:off x="594360" y="34838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GitHub Pages hosting</a:t>
            </a:r>
            <a:endParaRPr lang="en-US" sz="850" dirty="0"/>
          </a:p>
        </p:txBody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9FD29FBD-74D3-E296-22BC-90D6896617D5}"/>
              </a:ext>
            </a:extLst>
          </p:cNvPr>
          <p:cNvSpPr/>
          <p:nvPr/>
        </p:nvSpPr>
        <p:spPr>
          <a:xfrm>
            <a:off x="274320" y="4206240"/>
            <a:ext cx="2788920" cy="54864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95D1F6DF-A36B-5480-321E-2C73252ACC06}"/>
              </a:ext>
            </a:extLst>
          </p:cNvPr>
          <p:cNvSpPr/>
          <p:nvPr/>
        </p:nvSpPr>
        <p:spPr>
          <a:xfrm>
            <a:off x="411480" y="4251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0B4C8"/>
                </a:solidFill>
              </a:rPr>
              <a:t>Demonstrates UX &amp; concept to judges</a:t>
            </a:r>
            <a:endParaRPr lang="en-US" sz="8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4837E073-8C69-5A31-59E7-97CE26BC8BAD}"/>
              </a:ext>
            </a:extLst>
          </p:cNvPr>
          <p:cNvSpPr/>
          <p:nvPr/>
        </p:nvSpPr>
        <p:spPr>
          <a:xfrm>
            <a:off x="3218688" y="896112"/>
            <a:ext cx="2788920" cy="385876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Shape 22">
            <a:extLst>
              <a:ext uri="{FF2B5EF4-FFF2-40B4-BE49-F238E27FC236}">
                <a16:creationId xmlns:a16="http://schemas.microsoft.com/office/drawing/2014/main" id="{690AC8EB-FC23-EF64-643F-35A14E073D29}"/>
              </a:ext>
            </a:extLst>
          </p:cNvPr>
          <p:cNvSpPr/>
          <p:nvPr/>
        </p:nvSpPr>
        <p:spPr>
          <a:xfrm>
            <a:off x="3218688" y="896112"/>
            <a:ext cx="278892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2" name="Text 23">
            <a:extLst>
              <a:ext uri="{FF2B5EF4-FFF2-40B4-BE49-F238E27FC236}">
                <a16:creationId xmlns:a16="http://schemas.microsoft.com/office/drawing/2014/main" id="{E234B9DB-C7A0-5A5D-2E94-5EDA5C6180B5}"/>
              </a:ext>
            </a:extLst>
          </p:cNvPr>
          <p:cNvSpPr/>
          <p:nvPr/>
        </p:nvSpPr>
        <p:spPr>
          <a:xfrm>
            <a:off x="3355848" y="978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0A500"/>
                </a:solidFill>
              </a:rPr>
              <a:t>MVP / PRODUCT</a:t>
            </a:r>
            <a:endParaRPr lang="en-US" sz="1000" dirty="0"/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8894EE51-1386-951A-C344-6FFBE58EFAEF}"/>
              </a:ext>
            </a:extLst>
          </p:cNvPr>
          <p:cNvSpPr/>
          <p:nvPr/>
        </p:nvSpPr>
        <p:spPr>
          <a:xfrm>
            <a:off x="3355848" y="12618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090A0"/>
                </a:solidFill>
              </a:rPr>
              <a:t>When developed (3–6 months)</a:t>
            </a:r>
            <a:endParaRPr lang="en-US" sz="800" dirty="0"/>
          </a:p>
        </p:txBody>
      </p:sp>
      <p:sp>
        <p:nvSpPr>
          <p:cNvPr id="74" name="Shape 25">
            <a:extLst>
              <a:ext uri="{FF2B5EF4-FFF2-40B4-BE49-F238E27FC236}">
                <a16:creationId xmlns:a16="http://schemas.microsoft.com/office/drawing/2014/main" id="{4D93E4E2-20D2-790D-C2CD-3EBC193A1F61}"/>
              </a:ext>
            </a:extLst>
          </p:cNvPr>
          <p:cNvSpPr/>
          <p:nvPr/>
        </p:nvSpPr>
        <p:spPr>
          <a:xfrm>
            <a:off x="3355848" y="1554480"/>
            <a:ext cx="2514600" cy="566928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75" name="Text 26">
            <a:extLst>
              <a:ext uri="{FF2B5EF4-FFF2-40B4-BE49-F238E27FC236}">
                <a16:creationId xmlns:a16="http://schemas.microsoft.com/office/drawing/2014/main" id="{D01B65C0-0CCA-E802-9192-64F2646B2A3A}"/>
              </a:ext>
            </a:extLst>
          </p:cNvPr>
          <p:cNvSpPr/>
          <p:nvPr/>
        </p:nvSpPr>
        <p:spPr>
          <a:xfrm>
            <a:off x="3355848" y="15727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₹5K</a:t>
            </a:r>
            <a:endParaRPr lang="en-US" sz="2600" dirty="0"/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2218AAFF-DE06-341B-CA50-9C9013443DFF}"/>
              </a:ext>
            </a:extLst>
          </p:cNvPr>
          <p:cNvSpPr/>
          <p:nvPr/>
        </p:nvSpPr>
        <p:spPr>
          <a:xfrm>
            <a:off x="4818888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</a:rPr>
              <a:t>/month</a:t>
            </a:r>
            <a:endParaRPr lang="en-US" sz="900" dirty="0"/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88A54C9E-0F9D-58A9-63C4-46915011FF60}"/>
              </a:ext>
            </a:extLst>
          </p:cNvPr>
          <p:cNvSpPr/>
          <p:nvPr/>
        </p:nvSpPr>
        <p:spPr>
          <a:xfrm>
            <a:off x="3355848" y="22128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090A0"/>
                </a:solidFill>
              </a:rPr>
              <a:t>TECH STACK</a:t>
            </a:r>
            <a:endParaRPr lang="en-US" sz="650" dirty="0"/>
          </a:p>
        </p:txBody>
      </p:sp>
      <p:sp>
        <p:nvSpPr>
          <p:cNvPr id="78" name="Shape 29">
            <a:extLst>
              <a:ext uri="{FF2B5EF4-FFF2-40B4-BE49-F238E27FC236}">
                <a16:creationId xmlns:a16="http://schemas.microsoft.com/office/drawing/2014/main" id="{6B8BE1F6-3701-B27D-9439-BE4845CA59A6}"/>
              </a:ext>
            </a:extLst>
          </p:cNvPr>
          <p:cNvSpPr/>
          <p:nvPr/>
        </p:nvSpPr>
        <p:spPr>
          <a:xfrm>
            <a:off x="3383280" y="2487168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79" name="Text 30">
            <a:extLst>
              <a:ext uri="{FF2B5EF4-FFF2-40B4-BE49-F238E27FC236}">
                <a16:creationId xmlns:a16="http://schemas.microsoft.com/office/drawing/2014/main" id="{DC836A69-86FE-7AC4-EF62-C755B200B676}"/>
              </a:ext>
            </a:extLst>
          </p:cNvPr>
          <p:cNvSpPr/>
          <p:nvPr/>
        </p:nvSpPr>
        <p:spPr>
          <a:xfrm>
            <a:off x="3538728" y="2441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React + Node.js + Express</a:t>
            </a:r>
            <a:endParaRPr lang="en-US" sz="850" dirty="0"/>
          </a:p>
        </p:txBody>
      </p:sp>
      <p:sp>
        <p:nvSpPr>
          <p:cNvPr id="80" name="Shape 31">
            <a:extLst>
              <a:ext uri="{FF2B5EF4-FFF2-40B4-BE49-F238E27FC236}">
                <a16:creationId xmlns:a16="http://schemas.microsoft.com/office/drawing/2014/main" id="{DFBBC5ED-5AF3-C44C-37AC-E65A6238445C}"/>
              </a:ext>
            </a:extLst>
          </p:cNvPr>
          <p:cNvSpPr/>
          <p:nvPr/>
        </p:nvSpPr>
        <p:spPr>
          <a:xfrm>
            <a:off x="3383280" y="2834640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703AC76C-AA18-69D4-A435-BFF27BEBC76C}"/>
              </a:ext>
            </a:extLst>
          </p:cNvPr>
          <p:cNvSpPr/>
          <p:nvPr/>
        </p:nvSpPr>
        <p:spPr>
          <a:xfrm>
            <a:off x="3538728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PostgreSQL + Redis cache</a:t>
            </a:r>
            <a:endParaRPr lang="en-US" sz="850" dirty="0"/>
          </a:p>
        </p:txBody>
      </p:sp>
      <p:sp>
        <p:nvSpPr>
          <p:cNvPr id="82" name="Shape 33">
            <a:extLst>
              <a:ext uri="{FF2B5EF4-FFF2-40B4-BE49-F238E27FC236}">
                <a16:creationId xmlns:a16="http://schemas.microsoft.com/office/drawing/2014/main" id="{09F43293-9A76-874B-5DAF-68F9D2B9D066}"/>
              </a:ext>
            </a:extLst>
          </p:cNvPr>
          <p:cNvSpPr/>
          <p:nvPr/>
        </p:nvSpPr>
        <p:spPr>
          <a:xfrm>
            <a:off x="3383280" y="3182112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83" name="Text 34">
            <a:extLst>
              <a:ext uri="{FF2B5EF4-FFF2-40B4-BE49-F238E27FC236}">
                <a16:creationId xmlns:a16="http://schemas.microsoft.com/office/drawing/2014/main" id="{3D10AD33-6BEF-90CF-C1BB-9890060CBAD9}"/>
              </a:ext>
            </a:extLst>
          </p:cNvPr>
          <p:cNvSpPr/>
          <p:nvPr/>
        </p:nvSpPr>
        <p:spPr>
          <a:xfrm>
            <a:off x="3538728" y="31363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spaCy NLP manifest parser</a:t>
            </a:r>
            <a:endParaRPr lang="en-US" sz="850" dirty="0"/>
          </a:p>
        </p:txBody>
      </p:sp>
      <p:sp>
        <p:nvSpPr>
          <p:cNvPr id="84" name="Shape 35">
            <a:extLst>
              <a:ext uri="{FF2B5EF4-FFF2-40B4-BE49-F238E27FC236}">
                <a16:creationId xmlns:a16="http://schemas.microsoft.com/office/drawing/2014/main" id="{7549C1DB-1696-833A-3739-09186E5D5063}"/>
              </a:ext>
            </a:extLst>
          </p:cNvPr>
          <p:cNvSpPr/>
          <p:nvPr/>
        </p:nvSpPr>
        <p:spPr>
          <a:xfrm>
            <a:off x="3383280" y="3529584"/>
            <a:ext cx="91440" cy="91440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85" name="Text 36">
            <a:extLst>
              <a:ext uri="{FF2B5EF4-FFF2-40B4-BE49-F238E27FC236}">
                <a16:creationId xmlns:a16="http://schemas.microsoft.com/office/drawing/2014/main" id="{513811C3-26BE-CC2C-B6B6-85F6829AC16E}"/>
              </a:ext>
            </a:extLst>
          </p:cNvPr>
          <p:cNvSpPr/>
          <p:nvPr/>
        </p:nvSpPr>
        <p:spPr>
          <a:xfrm>
            <a:off x="3538728" y="34838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Render / Railway hosting (free tier)</a:t>
            </a:r>
            <a:endParaRPr lang="en-US" sz="850" dirty="0"/>
          </a:p>
        </p:txBody>
      </p:sp>
      <p:sp>
        <p:nvSpPr>
          <p:cNvPr id="86" name="Shape 37">
            <a:extLst>
              <a:ext uri="{FF2B5EF4-FFF2-40B4-BE49-F238E27FC236}">
                <a16:creationId xmlns:a16="http://schemas.microsoft.com/office/drawing/2014/main" id="{C7AE4B90-3CDE-D408-82A2-FFBDAC65E767}"/>
              </a:ext>
            </a:extLst>
          </p:cNvPr>
          <p:cNvSpPr/>
          <p:nvPr/>
        </p:nvSpPr>
        <p:spPr>
          <a:xfrm>
            <a:off x="3218688" y="4206240"/>
            <a:ext cx="2788920" cy="54864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87" name="Text 38">
            <a:extLst>
              <a:ext uri="{FF2B5EF4-FFF2-40B4-BE49-F238E27FC236}">
                <a16:creationId xmlns:a16="http://schemas.microsoft.com/office/drawing/2014/main" id="{F0F5B3C0-010B-14AC-BD7E-286B8D3E5230}"/>
              </a:ext>
            </a:extLst>
          </p:cNvPr>
          <p:cNvSpPr/>
          <p:nvPr/>
        </p:nvSpPr>
        <p:spPr>
          <a:xfrm>
            <a:off x="3355848" y="4251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0B4C8"/>
                </a:solidFill>
              </a:rPr>
              <a:t>Fully functional, 100+ concurrent users</a:t>
            </a:r>
            <a:endParaRPr lang="en-US" sz="800" dirty="0"/>
          </a:p>
        </p:txBody>
      </p:sp>
      <p:sp>
        <p:nvSpPr>
          <p:cNvPr id="88" name="Shape 39">
            <a:extLst>
              <a:ext uri="{FF2B5EF4-FFF2-40B4-BE49-F238E27FC236}">
                <a16:creationId xmlns:a16="http://schemas.microsoft.com/office/drawing/2014/main" id="{9D329C2C-FA2F-3425-B434-9DF70C56333C}"/>
              </a:ext>
            </a:extLst>
          </p:cNvPr>
          <p:cNvSpPr/>
          <p:nvPr/>
        </p:nvSpPr>
        <p:spPr>
          <a:xfrm>
            <a:off x="6163056" y="896112"/>
            <a:ext cx="2788920" cy="3858768"/>
          </a:xfrm>
          <a:prstGeom prst="rect">
            <a:avLst/>
          </a:prstGeom>
          <a:solidFill>
            <a:srgbClr val="060D1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9" name="Shape 40">
            <a:extLst>
              <a:ext uri="{FF2B5EF4-FFF2-40B4-BE49-F238E27FC236}">
                <a16:creationId xmlns:a16="http://schemas.microsoft.com/office/drawing/2014/main" id="{9F0ACBA2-1A09-EECA-30E5-C6D564639370}"/>
              </a:ext>
            </a:extLst>
          </p:cNvPr>
          <p:cNvSpPr/>
          <p:nvPr/>
        </p:nvSpPr>
        <p:spPr>
          <a:xfrm>
            <a:off x="6163056" y="896112"/>
            <a:ext cx="2788920" cy="54864"/>
          </a:xfrm>
          <a:prstGeom prst="rect">
            <a:avLst/>
          </a:prstGeom>
          <a:solidFill>
            <a:srgbClr val="22C97A"/>
          </a:solidFill>
          <a:ln/>
        </p:spPr>
      </p:sp>
      <p:sp>
        <p:nvSpPr>
          <p:cNvPr id="90" name="Text 41">
            <a:extLst>
              <a:ext uri="{FF2B5EF4-FFF2-40B4-BE49-F238E27FC236}">
                <a16:creationId xmlns:a16="http://schemas.microsoft.com/office/drawing/2014/main" id="{48DB7531-1522-2865-BF5C-2C579132A5B8}"/>
              </a:ext>
            </a:extLst>
          </p:cNvPr>
          <p:cNvSpPr/>
          <p:nvPr/>
        </p:nvSpPr>
        <p:spPr>
          <a:xfrm>
            <a:off x="6300216" y="978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C97A"/>
                </a:solidFill>
              </a:rPr>
              <a:t>SCALE</a:t>
            </a:r>
            <a:endParaRPr lang="en-US" sz="1000" dirty="0"/>
          </a:p>
        </p:txBody>
      </p:sp>
      <p:sp>
        <p:nvSpPr>
          <p:cNvPr id="91" name="Text 42">
            <a:extLst>
              <a:ext uri="{FF2B5EF4-FFF2-40B4-BE49-F238E27FC236}">
                <a16:creationId xmlns:a16="http://schemas.microsoft.com/office/drawing/2014/main" id="{9C376850-BD13-9C06-59C0-AF1DF87FAB6F}"/>
              </a:ext>
            </a:extLst>
          </p:cNvPr>
          <p:cNvSpPr/>
          <p:nvPr/>
        </p:nvSpPr>
        <p:spPr>
          <a:xfrm>
            <a:off x="6300216" y="12618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090A0"/>
                </a:solidFill>
              </a:rPr>
              <a:t>Enterprise / DP World rollout</a:t>
            </a:r>
            <a:endParaRPr lang="en-US" sz="800" dirty="0"/>
          </a:p>
        </p:txBody>
      </p:sp>
      <p:sp>
        <p:nvSpPr>
          <p:cNvPr id="92" name="Shape 43">
            <a:extLst>
              <a:ext uri="{FF2B5EF4-FFF2-40B4-BE49-F238E27FC236}">
                <a16:creationId xmlns:a16="http://schemas.microsoft.com/office/drawing/2014/main" id="{F7425488-D573-D89E-B475-B3842DC66B90}"/>
              </a:ext>
            </a:extLst>
          </p:cNvPr>
          <p:cNvSpPr/>
          <p:nvPr/>
        </p:nvSpPr>
        <p:spPr>
          <a:xfrm>
            <a:off x="6300216" y="1554480"/>
            <a:ext cx="2514600" cy="566928"/>
          </a:xfrm>
          <a:prstGeom prst="rect">
            <a:avLst/>
          </a:prstGeom>
          <a:solidFill>
            <a:srgbClr val="0D2A1A"/>
          </a:solidFill>
          <a:ln/>
        </p:spPr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5D7E0363-089A-100A-DC9B-CDE8FBF2C926}"/>
              </a:ext>
            </a:extLst>
          </p:cNvPr>
          <p:cNvSpPr/>
          <p:nvPr/>
        </p:nvSpPr>
        <p:spPr>
          <a:xfrm>
            <a:off x="6300216" y="15727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~$8K</a:t>
            </a:r>
            <a:endParaRPr lang="en-US" sz="2600" dirty="0"/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7132C8AA-672A-4FD8-B8A8-FE1C9E7280DA}"/>
              </a:ext>
            </a:extLst>
          </p:cNvPr>
          <p:cNvSpPr/>
          <p:nvPr/>
        </p:nvSpPr>
        <p:spPr>
          <a:xfrm>
            <a:off x="7763256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90A0"/>
                </a:solidFill>
              </a:rPr>
              <a:t>/month</a:t>
            </a:r>
            <a:endParaRPr lang="en-US" sz="900" dirty="0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5799998A-2945-BCE3-8A7D-7ED092A22657}"/>
              </a:ext>
            </a:extLst>
          </p:cNvPr>
          <p:cNvSpPr/>
          <p:nvPr/>
        </p:nvSpPr>
        <p:spPr>
          <a:xfrm>
            <a:off x="6300216" y="22128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090A0"/>
                </a:solidFill>
              </a:rPr>
              <a:t>TECH STACK</a:t>
            </a:r>
            <a:endParaRPr lang="en-US" sz="650" dirty="0"/>
          </a:p>
        </p:txBody>
      </p:sp>
      <p:sp>
        <p:nvSpPr>
          <p:cNvPr id="96" name="Shape 47">
            <a:extLst>
              <a:ext uri="{FF2B5EF4-FFF2-40B4-BE49-F238E27FC236}">
                <a16:creationId xmlns:a16="http://schemas.microsoft.com/office/drawing/2014/main" id="{85B25788-3145-EACB-5857-4BC8A68566EF}"/>
              </a:ext>
            </a:extLst>
          </p:cNvPr>
          <p:cNvSpPr/>
          <p:nvPr/>
        </p:nvSpPr>
        <p:spPr>
          <a:xfrm>
            <a:off x="6327648" y="2487168"/>
            <a:ext cx="91440" cy="91440"/>
          </a:xfrm>
          <a:prstGeom prst="ellipse">
            <a:avLst/>
          </a:prstGeom>
          <a:solidFill>
            <a:srgbClr val="22C97A"/>
          </a:solidFill>
          <a:ln/>
        </p:spPr>
      </p:sp>
      <p:sp>
        <p:nvSpPr>
          <p:cNvPr id="97" name="Text 48">
            <a:extLst>
              <a:ext uri="{FF2B5EF4-FFF2-40B4-BE49-F238E27FC236}">
                <a16:creationId xmlns:a16="http://schemas.microsoft.com/office/drawing/2014/main" id="{C94D079E-AC74-3D1A-CE05-3643A9D7F0E3}"/>
              </a:ext>
            </a:extLst>
          </p:cNvPr>
          <p:cNvSpPr/>
          <p:nvPr/>
        </p:nvSpPr>
        <p:spPr>
          <a:xfrm>
            <a:off x="6483096" y="2441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React + microservices (K8s)</a:t>
            </a:r>
            <a:endParaRPr lang="en-US" sz="850" dirty="0"/>
          </a:p>
        </p:txBody>
      </p:sp>
      <p:sp>
        <p:nvSpPr>
          <p:cNvPr id="98" name="Shape 49">
            <a:extLst>
              <a:ext uri="{FF2B5EF4-FFF2-40B4-BE49-F238E27FC236}">
                <a16:creationId xmlns:a16="http://schemas.microsoft.com/office/drawing/2014/main" id="{7A40A1F6-1D5C-E1E3-ACE5-94353532DC4E}"/>
              </a:ext>
            </a:extLst>
          </p:cNvPr>
          <p:cNvSpPr/>
          <p:nvPr/>
        </p:nvSpPr>
        <p:spPr>
          <a:xfrm>
            <a:off x="6327648" y="2834640"/>
            <a:ext cx="91440" cy="91440"/>
          </a:xfrm>
          <a:prstGeom prst="ellipse">
            <a:avLst/>
          </a:prstGeom>
          <a:solidFill>
            <a:srgbClr val="22C97A"/>
          </a:solidFill>
          <a:ln/>
        </p:spPr>
      </p:sp>
      <p:sp>
        <p:nvSpPr>
          <p:cNvPr id="99" name="Text 50">
            <a:extLst>
              <a:ext uri="{FF2B5EF4-FFF2-40B4-BE49-F238E27FC236}">
                <a16:creationId xmlns:a16="http://schemas.microsoft.com/office/drawing/2014/main" id="{8D0E6602-A2A9-42AB-248D-6D18345B6F00}"/>
              </a:ext>
            </a:extLst>
          </p:cNvPr>
          <p:cNvSpPr/>
          <p:nvPr/>
        </p:nvSpPr>
        <p:spPr>
          <a:xfrm>
            <a:off x="6483096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AWS RDS + ElastiCache + S3</a:t>
            </a:r>
            <a:endParaRPr lang="en-US" sz="850" dirty="0"/>
          </a:p>
        </p:txBody>
      </p:sp>
      <p:sp>
        <p:nvSpPr>
          <p:cNvPr id="100" name="Shape 51">
            <a:extLst>
              <a:ext uri="{FF2B5EF4-FFF2-40B4-BE49-F238E27FC236}">
                <a16:creationId xmlns:a16="http://schemas.microsoft.com/office/drawing/2014/main" id="{86A5FEE4-0BB1-CD4A-C386-9679717B726D}"/>
              </a:ext>
            </a:extLst>
          </p:cNvPr>
          <p:cNvSpPr/>
          <p:nvPr/>
        </p:nvSpPr>
        <p:spPr>
          <a:xfrm>
            <a:off x="6327648" y="3182112"/>
            <a:ext cx="91440" cy="91440"/>
          </a:xfrm>
          <a:prstGeom prst="ellipse">
            <a:avLst/>
          </a:prstGeom>
          <a:solidFill>
            <a:srgbClr val="22C97A"/>
          </a:solidFill>
          <a:ln/>
        </p:spPr>
      </p:sp>
      <p:sp>
        <p:nvSpPr>
          <p:cNvPr id="101" name="Text 52">
            <a:extLst>
              <a:ext uri="{FF2B5EF4-FFF2-40B4-BE49-F238E27FC236}">
                <a16:creationId xmlns:a16="http://schemas.microsoft.com/office/drawing/2014/main" id="{50E1A6B5-B280-FB90-B0E6-2E6CAD5B4014}"/>
              </a:ext>
            </a:extLst>
          </p:cNvPr>
          <p:cNvSpPr/>
          <p:nvPr/>
        </p:nvSpPr>
        <p:spPr>
          <a:xfrm>
            <a:off x="6483096" y="31363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Custom ML pricing model (SageMaker)</a:t>
            </a:r>
            <a:endParaRPr lang="en-US" sz="850" dirty="0"/>
          </a:p>
        </p:txBody>
      </p:sp>
      <p:sp>
        <p:nvSpPr>
          <p:cNvPr id="102" name="Shape 53">
            <a:extLst>
              <a:ext uri="{FF2B5EF4-FFF2-40B4-BE49-F238E27FC236}">
                <a16:creationId xmlns:a16="http://schemas.microsoft.com/office/drawing/2014/main" id="{8E195FA4-9569-5A5B-143B-BA09285E86E0}"/>
              </a:ext>
            </a:extLst>
          </p:cNvPr>
          <p:cNvSpPr/>
          <p:nvPr/>
        </p:nvSpPr>
        <p:spPr>
          <a:xfrm>
            <a:off x="6327648" y="3529584"/>
            <a:ext cx="91440" cy="91440"/>
          </a:xfrm>
          <a:prstGeom prst="ellipse">
            <a:avLst/>
          </a:prstGeom>
          <a:solidFill>
            <a:srgbClr val="22C97A"/>
          </a:solidFill>
          <a:ln/>
        </p:spPr>
      </p:sp>
      <p:sp>
        <p:nvSpPr>
          <p:cNvPr id="103" name="Text 54">
            <a:extLst>
              <a:ext uri="{FF2B5EF4-FFF2-40B4-BE49-F238E27FC236}">
                <a16:creationId xmlns:a16="http://schemas.microsoft.com/office/drawing/2014/main" id="{220C8E41-78BB-DF80-E7A9-0FC3FF1C3C4C}"/>
              </a:ext>
            </a:extLst>
          </p:cNvPr>
          <p:cNvSpPr/>
          <p:nvPr/>
        </p:nvSpPr>
        <p:spPr>
          <a:xfrm>
            <a:off x="6483096" y="34838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Multi-region CDN + 99.9% SLA</a:t>
            </a:r>
            <a:endParaRPr lang="en-US" sz="850" dirty="0"/>
          </a:p>
        </p:txBody>
      </p:sp>
      <p:sp>
        <p:nvSpPr>
          <p:cNvPr id="104" name="Shape 55">
            <a:extLst>
              <a:ext uri="{FF2B5EF4-FFF2-40B4-BE49-F238E27FC236}">
                <a16:creationId xmlns:a16="http://schemas.microsoft.com/office/drawing/2014/main" id="{9302672A-DE3A-49F4-9CD2-5C279A1E439F}"/>
              </a:ext>
            </a:extLst>
          </p:cNvPr>
          <p:cNvSpPr/>
          <p:nvPr/>
        </p:nvSpPr>
        <p:spPr>
          <a:xfrm>
            <a:off x="6163056" y="4206240"/>
            <a:ext cx="2788920" cy="548640"/>
          </a:xfrm>
          <a:prstGeom prst="rect">
            <a:avLst/>
          </a:prstGeom>
          <a:solidFill>
            <a:srgbClr val="0D2A1A"/>
          </a:solidFill>
          <a:ln/>
        </p:spPr>
      </p:sp>
      <p:sp>
        <p:nvSpPr>
          <p:cNvPr id="105" name="Text 56">
            <a:extLst>
              <a:ext uri="{FF2B5EF4-FFF2-40B4-BE49-F238E27FC236}">
                <a16:creationId xmlns:a16="http://schemas.microsoft.com/office/drawing/2014/main" id="{C726DA66-3747-6302-8C3E-3409C003F6DE}"/>
              </a:ext>
            </a:extLst>
          </p:cNvPr>
          <p:cNvSpPr/>
          <p:nvPr/>
        </p:nvSpPr>
        <p:spPr>
          <a:xfrm>
            <a:off x="6300216" y="4251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A0B4C8"/>
                </a:solidFill>
              </a:rPr>
              <a:t>Handles 10,000+ simultaneous auctions globally</a:t>
            </a:r>
            <a:endParaRPr lang="en-US" sz="800" dirty="0"/>
          </a:p>
        </p:txBody>
      </p:sp>
      <p:sp>
        <p:nvSpPr>
          <p:cNvPr id="106" name="Text 57">
            <a:extLst>
              <a:ext uri="{FF2B5EF4-FFF2-40B4-BE49-F238E27FC236}">
                <a16:creationId xmlns:a16="http://schemas.microsoft.com/office/drawing/2014/main" id="{E0773388-280E-15A4-058E-436F376D21D3}"/>
              </a:ext>
            </a:extLst>
          </p:cNvPr>
          <p:cNvSpPr/>
          <p:nvPr/>
        </p:nvSpPr>
        <p:spPr>
          <a:xfrm>
            <a:off x="3090672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A500"/>
                </a:solidFill>
              </a:rPr>
              <a:t>→</a:t>
            </a:r>
            <a:endParaRPr lang="en-US" sz="1600" dirty="0"/>
          </a:p>
        </p:txBody>
      </p:sp>
      <p:sp>
        <p:nvSpPr>
          <p:cNvPr id="107" name="Text 58">
            <a:extLst>
              <a:ext uri="{FF2B5EF4-FFF2-40B4-BE49-F238E27FC236}">
                <a16:creationId xmlns:a16="http://schemas.microsoft.com/office/drawing/2014/main" id="{98061E08-DAE1-8750-2824-62752C1F57FD}"/>
              </a:ext>
            </a:extLst>
          </p:cNvPr>
          <p:cNvSpPr/>
          <p:nvPr/>
        </p:nvSpPr>
        <p:spPr>
          <a:xfrm>
            <a:off x="6035040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A500"/>
                </a:solidFill>
              </a:rPr>
              <a:t>→</a:t>
            </a:r>
            <a:endParaRPr lang="en-US" sz="1600" dirty="0"/>
          </a:p>
        </p:txBody>
      </p:sp>
      <p:sp>
        <p:nvSpPr>
          <p:cNvPr id="108" name="Shape 59">
            <a:extLst>
              <a:ext uri="{FF2B5EF4-FFF2-40B4-BE49-F238E27FC236}">
                <a16:creationId xmlns:a16="http://schemas.microsoft.com/office/drawing/2014/main" id="{2DE5F2D0-5290-2B0B-92A2-E8ECA514BD7B}"/>
              </a:ext>
            </a:extLst>
          </p:cNvPr>
          <p:cNvSpPr/>
          <p:nvPr/>
        </p:nvSpPr>
        <p:spPr>
          <a:xfrm>
            <a:off x="274320" y="4818888"/>
            <a:ext cx="8595360" cy="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9" name="Shape 60">
            <a:extLst>
              <a:ext uri="{FF2B5EF4-FFF2-40B4-BE49-F238E27FC236}">
                <a16:creationId xmlns:a16="http://schemas.microsoft.com/office/drawing/2014/main" id="{565F0FEB-5060-1588-66EC-C10FDB61022A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110" name="Text 61">
            <a:extLst>
              <a:ext uri="{FF2B5EF4-FFF2-40B4-BE49-F238E27FC236}">
                <a16:creationId xmlns:a16="http://schemas.microsoft.com/office/drawing/2014/main" id="{EA245141-40F8-222D-8B0D-8078260B9A76}"/>
              </a:ext>
            </a:extLst>
          </p:cNvPr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FD8E-B03C-6F88-3A78-D230BD9C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58DC07-FC74-9E85-A2A4-2B069A1CBE9E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BCFA5B-3D97-168F-105E-4555AD9000C7}"/>
              </a:ext>
            </a:extLst>
          </p:cNvPr>
          <p:cNvSpPr/>
          <p:nvPr/>
        </p:nvSpPr>
        <p:spPr>
          <a:xfrm>
            <a:off x="365760" y="164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0A500"/>
                </a:solidFill>
              </a:rPr>
              <a:t>INNOVATIVE ASPECTS</a:t>
            </a:r>
            <a:endParaRPr lang="en-US" sz="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0BE5FF-5DF0-E23D-C9C5-C3B6C8FA1662}"/>
              </a:ext>
            </a:extLst>
          </p:cNvPr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CargoX Stands Out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A4665A6-C5CF-41BF-92D7-87B9609260A4}"/>
              </a:ext>
            </a:extLst>
          </p:cNvPr>
          <p:cNvSpPr/>
          <p:nvPr/>
        </p:nvSpPr>
        <p:spPr>
          <a:xfrm>
            <a:off x="320040" y="10058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C5761C1-4897-D638-A5FE-C6F98AAE1B60}"/>
              </a:ext>
            </a:extLst>
          </p:cNvPr>
          <p:cNvSpPr/>
          <p:nvPr/>
        </p:nvSpPr>
        <p:spPr>
          <a:xfrm>
            <a:off x="320040" y="100584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DB26EB-0B08-AEFB-B442-E6C4EBDF64F7}"/>
              </a:ext>
            </a:extLst>
          </p:cNvPr>
          <p:cNvSpPr/>
          <p:nvPr/>
        </p:nvSpPr>
        <p:spPr>
          <a:xfrm>
            <a:off x="41148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F505831-501B-8AF4-A6E6-ACD0921602FA}"/>
              </a:ext>
            </a:extLst>
          </p:cNvPr>
          <p:cNvSpPr/>
          <p:nvPr/>
        </p:nvSpPr>
        <p:spPr>
          <a:xfrm>
            <a:off x="2240280" y="115214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25BFEF4-C8E3-C4E9-2A7D-6FF0EC804125}"/>
              </a:ext>
            </a:extLst>
          </p:cNvPr>
          <p:cNvSpPr/>
          <p:nvPr/>
        </p:nvSpPr>
        <p:spPr>
          <a:xfrm>
            <a:off x="2240280" y="115214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AI/ML</a:t>
            </a:r>
            <a:endParaRPr lang="en-US" sz="6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912554-FA9E-7426-F12E-D4E4D08D03D7}"/>
              </a:ext>
            </a:extLst>
          </p:cNvPr>
          <p:cNvSpPr/>
          <p:nvPr/>
        </p:nvSpPr>
        <p:spPr>
          <a:xfrm>
            <a:off x="411480" y="16276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AI Manifest Parser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7F84323-1A15-94F7-3BFB-A6CC3DCA230F}"/>
              </a:ext>
            </a:extLst>
          </p:cNvPr>
          <p:cNvSpPr/>
          <p:nvPr/>
        </p:nvSpPr>
        <p:spPr>
          <a:xfrm>
            <a:off x="411480" y="193852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</a:rPr>
              <a:t>Port authorities upload raw customs documents. Our NLP engine (spaCy) auto-extracts cargo type, weight, condition &amp; pricing — eliminating manual data entry entirely.</a:t>
            </a:r>
            <a:endParaRPr lang="en-US" sz="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F2E97A9-917A-EDD6-4B8F-81A3E036AE58}"/>
              </a:ext>
            </a:extLst>
          </p:cNvPr>
          <p:cNvSpPr/>
          <p:nvPr/>
        </p:nvSpPr>
        <p:spPr>
          <a:xfrm>
            <a:off x="3200400" y="10058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EB8D48F-3550-FBB9-F18E-AB3A296411DD}"/>
              </a:ext>
            </a:extLst>
          </p:cNvPr>
          <p:cNvSpPr/>
          <p:nvPr/>
        </p:nvSpPr>
        <p:spPr>
          <a:xfrm>
            <a:off x="3200400" y="1005840"/>
            <a:ext cx="269748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7C65CBF-1D32-9475-DD29-5BE62C22119C}"/>
              </a:ext>
            </a:extLst>
          </p:cNvPr>
          <p:cNvSpPr/>
          <p:nvPr/>
        </p:nvSpPr>
        <p:spPr>
          <a:xfrm>
            <a:off x="329184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EDEDA2F-2817-9964-9AE7-095E127FC349}"/>
              </a:ext>
            </a:extLst>
          </p:cNvPr>
          <p:cNvSpPr/>
          <p:nvPr/>
        </p:nvSpPr>
        <p:spPr>
          <a:xfrm>
            <a:off x="5120640" y="115214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F0A500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151F636-5134-8D4A-146C-B9809AA5677A}"/>
              </a:ext>
            </a:extLst>
          </p:cNvPr>
          <p:cNvSpPr/>
          <p:nvPr/>
        </p:nvSpPr>
        <p:spPr>
          <a:xfrm>
            <a:off x="5120640" y="115214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60D14"/>
                </a:solidFill>
              </a:rPr>
              <a:t>★ BONUS</a:t>
            </a:r>
            <a:endParaRPr lang="en-US" sz="6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F9DF929-451C-C2F4-74EA-59CE580053B9}"/>
              </a:ext>
            </a:extLst>
          </p:cNvPr>
          <p:cNvSpPr/>
          <p:nvPr/>
        </p:nvSpPr>
        <p:spPr>
          <a:xfrm>
            <a:off x="3291840" y="16276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Multi-Geography by Design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46F6D39-474D-E52C-28F3-11F86D9CFC22}"/>
              </a:ext>
            </a:extLst>
          </p:cNvPr>
          <p:cNvSpPr/>
          <p:nvPr/>
        </p:nvSpPr>
        <p:spPr>
          <a:xfrm>
            <a:off x="3291840" y="193852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</a:rPr>
              <a:t>Multi-currency bidding (INR, USD, AED, SGD, GBP, AUD), jurisdiction-aware compliance rules, and localised tax docs — built for DP World's 70+ country network from day one.</a:t>
            </a:r>
            <a:endParaRPr lang="en-US" sz="8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A7D1D0A-7BEA-C49A-E4EB-E2416EA217B4}"/>
              </a:ext>
            </a:extLst>
          </p:cNvPr>
          <p:cNvSpPr/>
          <p:nvPr/>
        </p:nvSpPr>
        <p:spPr>
          <a:xfrm>
            <a:off x="6080760" y="10058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D727828-3C84-5BAE-0205-E3A815E5A8A0}"/>
              </a:ext>
            </a:extLst>
          </p:cNvPr>
          <p:cNvSpPr/>
          <p:nvPr/>
        </p:nvSpPr>
        <p:spPr>
          <a:xfrm>
            <a:off x="6080760" y="1005840"/>
            <a:ext cx="2697480" cy="54864"/>
          </a:xfrm>
          <a:prstGeom prst="rect">
            <a:avLst/>
          </a:prstGeom>
          <a:solidFill>
            <a:srgbClr val="22C97A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E8A5E39-B58B-75EF-F49B-349FEC18DF7D}"/>
              </a:ext>
            </a:extLst>
          </p:cNvPr>
          <p:cNvSpPr/>
          <p:nvPr/>
        </p:nvSpPr>
        <p:spPr>
          <a:xfrm>
            <a:off x="617220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F903354-5561-08A3-D795-692C465639F8}"/>
              </a:ext>
            </a:extLst>
          </p:cNvPr>
          <p:cNvSpPr/>
          <p:nvPr/>
        </p:nvSpPr>
        <p:spPr>
          <a:xfrm>
            <a:off x="8001000" y="115214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22C97A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B1775E8-021A-97C9-B899-7C6B1646AEBD}"/>
              </a:ext>
            </a:extLst>
          </p:cNvPr>
          <p:cNvSpPr/>
          <p:nvPr/>
        </p:nvSpPr>
        <p:spPr>
          <a:xfrm>
            <a:off x="8001000" y="115214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★ BONUS</a:t>
            </a:r>
            <a:endParaRPr lang="en-US" sz="6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889026A-AAA9-711F-25BB-01A927D949FB}"/>
              </a:ext>
            </a:extLst>
          </p:cNvPr>
          <p:cNvSpPr/>
          <p:nvPr/>
        </p:nvSpPr>
        <p:spPr>
          <a:xfrm>
            <a:off x="6172200" y="162763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Sustainability Score Engine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CDDA8D4-D780-674E-C68B-419F50058C85}"/>
              </a:ext>
            </a:extLst>
          </p:cNvPr>
          <p:cNvSpPr/>
          <p:nvPr/>
        </p:nvSpPr>
        <p:spPr>
          <a:xfrm>
            <a:off x="6172200" y="193852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</a:rPr>
              <a:t>Every auction auto-calculates CO₂ saved vs destruction/disposal. Aggregated to a live ESG dashboard, directly feeding DP World's "Our World, Our Future" sustainability reporting.</a:t>
            </a:r>
            <a:endParaRPr lang="en-US" sz="8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16F9B5C-D6BE-EFF9-E185-06527601716E}"/>
              </a:ext>
            </a:extLst>
          </p:cNvPr>
          <p:cNvSpPr/>
          <p:nvPr/>
        </p:nvSpPr>
        <p:spPr>
          <a:xfrm>
            <a:off x="320040" y="28803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96F4FEA-C69A-63E8-430F-01FEBB51868B}"/>
              </a:ext>
            </a:extLst>
          </p:cNvPr>
          <p:cNvSpPr/>
          <p:nvPr/>
        </p:nvSpPr>
        <p:spPr>
          <a:xfrm>
            <a:off x="320040" y="288036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5424DA7-0E77-EEA3-6762-50CDA0A098DA}"/>
              </a:ext>
            </a:extLst>
          </p:cNvPr>
          <p:cNvSpPr/>
          <p:nvPr/>
        </p:nvSpPr>
        <p:spPr>
          <a:xfrm>
            <a:off x="41148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3B3E31A-CDAB-7429-F5D2-953D71CB409F}"/>
              </a:ext>
            </a:extLst>
          </p:cNvPr>
          <p:cNvSpPr/>
          <p:nvPr/>
        </p:nvSpPr>
        <p:spPr>
          <a:xfrm>
            <a:off x="2240280" y="302666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/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C331684-5691-385F-256B-AABA63225C05}"/>
              </a:ext>
            </a:extLst>
          </p:cNvPr>
          <p:cNvSpPr/>
          <p:nvPr/>
        </p:nvSpPr>
        <p:spPr>
          <a:xfrm>
            <a:off x="2240280" y="30266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SCALABLE</a:t>
            </a:r>
            <a:endParaRPr lang="en-US" sz="6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00CBCE6-3439-FD26-948C-F368B7C015AE}"/>
              </a:ext>
            </a:extLst>
          </p:cNvPr>
          <p:cNvSpPr/>
          <p:nvPr/>
        </p:nvSpPr>
        <p:spPr>
          <a:xfrm>
            <a:off x="411480" y="35021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Real-Time Auction Engine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8553613-A405-7099-15B7-5839D1CF73F9}"/>
              </a:ext>
            </a:extLst>
          </p:cNvPr>
          <p:cNvSpPr/>
          <p:nvPr/>
        </p:nvSpPr>
        <p:spPr>
          <a:xfrm>
            <a:off x="411480" y="381304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</a:rPr>
              <a:t>Socket.io powered live bidding — instant outbid notifications, countdown timers, and bid history. Works for 10 users today, architected for 10,000 via Redis &amp; horizontal scaling.</a:t>
            </a:r>
            <a:endParaRPr lang="en-US" sz="8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04CD36D-8896-5A88-9251-AFE68AFBA325}"/>
              </a:ext>
            </a:extLst>
          </p:cNvPr>
          <p:cNvSpPr/>
          <p:nvPr/>
        </p:nvSpPr>
        <p:spPr>
          <a:xfrm>
            <a:off x="3200400" y="28803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34B101D-F212-C030-F53F-CFC4B370D5BC}"/>
              </a:ext>
            </a:extLst>
          </p:cNvPr>
          <p:cNvSpPr/>
          <p:nvPr/>
        </p:nvSpPr>
        <p:spPr>
          <a:xfrm>
            <a:off x="3200400" y="288036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F080B4B-8063-ADA9-5FB2-D1AD90AB3D7E}"/>
              </a:ext>
            </a:extLst>
          </p:cNvPr>
          <p:cNvSpPr/>
          <p:nvPr/>
        </p:nvSpPr>
        <p:spPr>
          <a:xfrm>
            <a:off x="32918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E0B8455-BBC7-1CD7-79B8-A94384C644DB}"/>
              </a:ext>
            </a:extLst>
          </p:cNvPr>
          <p:cNvSpPr/>
          <p:nvPr/>
        </p:nvSpPr>
        <p:spPr>
          <a:xfrm>
            <a:off x="5120640" y="302666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4A1A1A"/>
          </a:solidFill>
          <a:ln/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6C023AA-AB10-722E-DFA2-DC4A8BFD3D1B}"/>
              </a:ext>
            </a:extLst>
          </p:cNvPr>
          <p:cNvSpPr/>
          <p:nvPr/>
        </p:nvSpPr>
        <p:spPr>
          <a:xfrm>
            <a:off x="5120640" y="30266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AUTOMATED</a:t>
            </a:r>
            <a:endParaRPr lang="en-US" sz="6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DE50601-DBA0-9E65-0639-6CF4E39107F9}"/>
              </a:ext>
            </a:extLst>
          </p:cNvPr>
          <p:cNvSpPr/>
          <p:nvPr/>
        </p:nvSpPr>
        <p:spPr>
          <a:xfrm>
            <a:off x="3291840" y="35021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Automated Customs Docs</a:t>
            </a:r>
            <a:endParaRPr lang="en-US" sz="11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91174C3-58D3-D5B0-DE34-E17CAC73D8B8}"/>
              </a:ext>
            </a:extLst>
          </p:cNvPr>
          <p:cNvSpPr/>
          <p:nvPr/>
        </p:nvSpPr>
        <p:spPr>
          <a:xfrm>
            <a:off x="3291840" y="381304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</a:rPr>
              <a:t>Winning bidder receives auto-generated customs clearance documents within 48 hours — removing the biggest friction point in port cargo acquisition for SME importers.</a:t>
            </a:r>
            <a:endParaRPr lang="en-US" sz="8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A683FA5-6E58-837F-740B-0F54BD3E6C5F}"/>
              </a:ext>
            </a:extLst>
          </p:cNvPr>
          <p:cNvSpPr/>
          <p:nvPr/>
        </p:nvSpPr>
        <p:spPr>
          <a:xfrm>
            <a:off x="6080760" y="288036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4814347-84B3-708D-E794-8C0C1144E88C}"/>
              </a:ext>
            </a:extLst>
          </p:cNvPr>
          <p:cNvSpPr/>
          <p:nvPr/>
        </p:nvSpPr>
        <p:spPr>
          <a:xfrm>
            <a:off x="6080760" y="2880360"/>
            <a:ext cx="269748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9A56E0B-CF55-F554-EF13-1014E808F7BA}"/>
              </a:ext>
            </a:extLst>
          </p:cNvPr>
          <p:cNvSpPr/>
          <p:nvPr/>
        </p:nvSpPr>
        <p:spPr>
          <a:xfrm>
            <a:off x="617220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AE705280-F85A-831B-8713-55895207A506}"/>
              </a:ext>
            </a:extLst>
          </p:cNvPr>
          <p:cNvSpPr/>
          <p:nvPr/>
        </p:nvSpPr>
        <p:spPr>
          <a:xfrm>
            <a:off x="8001000" y="3026664"/>
            <a:ext cx="685800" cy="237744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/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E267575-DA04-7A42-F0EE-77B8372615C5}"/>
              </a:ext>
            </a:extLst>
          </p:cNvPr>
          <p:cNvSpPr/>
          <p:nvPr/>
        </p:nvSpPr>
        <p:spPr>
          <a:xfrm>
            <a:off x="8001000" y="302666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STRATEGIC</a:t>
            </a:r>
            <a:endParaRPr lang="en-US" sz="6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74EA460-C4CF-96A2-9188-8324830060B7}"/>
              </a:ext>
            </a:extLst>
          </p:cNvPr>
          <p:cNvSpPr/>
          <p:nvPr/>
        </p:nvSpPr>
        <p:spPr>
          <a:xfrm>
            <a:off x="6172200" y="35021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DP World Network Lock-In</a:t>
            </a:r>
            <a:endParaRPr lang="en-US" sz="11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2DF5A45-11DD-BE65-F49C-652B3978099C}"/>
              </a:ext>
            </a:extLst>
          </p:cNvPr>
          <p:cNvSpPr/>
          <p:nvPr/>
        </p:nvSpPr>
        <p:spPr>
          <a:xfrm>
            <a:off x="6172200" y="381304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A4A5A"/>
                </a:solidFill>
              </a:rPr>
              <a:t>Directly integrates into existing terminal operations. Port authorities list lots, DP World collects platform fees, and the ecosystem strengthens with every new terminal onboarded.</a:t>
            </a:r>
            <a:endParaRPr lang="en-US" sz="85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F3AC9D0-123D-03F4-4D0C-41BB436A56F7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4"/>
          </a:solidFill>
          <a:ln/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63A6FB9-59E8-EE03-5264-136D959EC366}"/>
              </a:ext>
            </a:extLst>
          </p:cNvPr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0A500"/>
                </a:solidFill>
              </a:rPr>
              <a:t>CargoX</a:t>
            </a:r>
            <a:r>
              <a:rPr lang="en-US" sz="700" dirty="0">
                <a:solidFill>
                  <a:srgbClr val="4A6080"/>
                </a:solidFill>
              </a:rPr>
              <a:t>  ·  DP World National Hackathon  ·  BITS Pilani Hyderabad  ·  Team KK  ·  </a:t>
            </a:r>
            <a:r>
              <a:rPr lang="en-US" sz="700" dirty="0">
                <a:solidFill>
                  <a:srgbClr val="8090A0"/>
                </a:solidFill>
              </a:rPr>
              <a:t>github.com/HARI-HL/cargox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268833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>
            <a:extLst>
              <a:ext uri="{FF2B5EF4-FFF2-40B4-BE49-F238E27FC236}">
                <a16:creationId xmlns:a16="http://schemas.microsoft.com/office/drawing/2014/main" id="{25AC304D-153E-C863-AA7D-D006FEC5B9E9}"/>
              </a:ext>
            </a:extLst>
          </p:cNvPr>
          <p:cNvSpPr/>
          <p:nvPr/>
        </p:nvSpPr>
        <p:spPr>
          <a:xfrm>
            <a:off x="27432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0" name="Shape 1">
            <a:extLst>
              <a:ext uri="{FF2B5EF4-FFF2-40B4-BE49-F238E27FC236}">
                <a16:creationId xmlns:a16="http://schemas.microsoft.com/office/drawing/2014/main" id="{D7A3271A-D6FC-CE77-B5B9-4215563D6AB3}"/>
              </a:ext>
            </a:extLst>
          </p:cNvPr>
          <p:cNvSpPr/>
          <p:nvPr/>
        </p:nvSpPr>
        <p:spPr>
          <a:xfrm>
            <a:off x="27432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62212D7E-D8F7-2997-CDA9-A8B0B0B9CDB3}"/>
              </a:ext>
            </a:extLst>
          </p:cNvPr>
          <p:cNvSpPr/>
          <p:nvPr/>
        </p:nvSpPr>
        <p:spPr>
          <a:xfrm>
            <a:off x="27432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3A403A13-173F-7CE9-98C4-C0FB7BC0138C}"/>
              </a:ext>
            </a:extLst>
          </p:cNvPr>
          <p:cNvSpPr/>
          <p:nvPr/>
        </p:nvSpPr>
        <p:spPr>
          <a:xfrm>
            <a:off x="274320" y="329184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B3B50364-61F7-A753-8BE7-0DE91181A1A5}"/>
              </a:ext>
            </a:extLst>
          </p:cNvPr>
          <p:cNvSpPr/>
          <p:nvPr/>
        </p:nvSpPr>
        <p:spPr>
          <a:xfrm>
            <a:off x="274320" y="429768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4" name="Shape 5">
            <a:extLst>
              <a:ext uri="{FF2B5EF4-FFF2-40B4-BE49-F238E27FC236}">
                <a16:creationId xmlns:a16="http://schemas.microsoft.com/office/drawing/2014/main" id="{18AD1C90-6A12-0FEC-22F1-A0FE86D8F31B}"/>
              </a:ext>
            </a:extLst>
          </p:cNvPr>
          <p:cNvSpPr/>
          <p:nvPr/>
        </p:nvSpPr>
        <p:spPr>
          <a:xfrm>
            <a:off x="137160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457108D2-DD19-0E8B-8C1A-D2DACD029274}"/>
              </a:ext>
            </a:extLst>
          </p:cNvPr>
          <p:cNvSpPr/>
          <p:nvPr/>
        </p:nvSpPr>
        <p:spPr>
          <a:xfrm>
            <a:off x="137160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6" name="Shape 7">
            <a:extLst>
              <a:ext uri="{FF2B5EF4-FFF2-40B4-BE49-F238E27FC236}">
                <a16:creationId xmlns:a16="http://schemas.microsoft.com/office/drawing/2014/main" id="{DEDB60EC-5278-B1CE-FAFE-96D4F86F466F}"/>
              </a:ext>
            </a:extLst>
          </p:cNvPr>
          <p:cNvSpPr/>
          <p:nvPr/>
        </p:nvSpPr>
        <p:spPr>
          <a:xfrm>
            <a:off x="137160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E7F1AFE1-15F2-939A-67C8-895781FD1D67}"/>
              </a:ext>
            </a:extLst>
          </p:cNvPr>
          <p:cNvSpPr/>
          <p:nvPr/>
        </p:nvSpPr>
        <p:spPr>
          <a:xfrm>
            <a:off x="1371600" y="248998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8" name="Shape 9">
            <a:extLst>
              <a:ext uri="{FF2B5EF4-FFF2-40B4-BE49-F238E27FC236}">
                <a16:creationId xmlns:a16="http://schemas.microsoft.com/office/drawing/2014/main" id="{12712E75-5E16-E61A-A5D8-8D6071B26BB8}"/>
              </a:ext>
            </a:extLst>
          </p:cNvPr>
          <p:cNvSpPr/>
          <p:nvPr/>
        </p:nvSpPr>
        <p:spPr>
          <a:xfrm>
            <a:off x="1371599" y="3854544"/>
            <a:ext cx="46141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9" name="Shape 10">
            <a:extLst>
              <a:ext uri="{FF2B5EF4-FFF2-40B4-BE49-F238E27FC236}">
                <a16:creationId xmlns:a16="http://schemas.microsoft.com/office/drawing/2014/main" id="{C746A70F-5B45-5B84-24BB-770CD3F39FE3}"/>
              </a:ext>
            </a:extLst>
          </p:cNvPr>
          <p:cNvSpPr/>
          <p:nvPr/>
        </p:nvSpPr>
        <p:spPr>
          <a:xfrm>
            <a:off x="246888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0" name="Shape 11">
            <a:extLst>
              <a:ext uri="{FF2B5EF4-FFF2-40B4-BE49-F238E27FC236}">
                <a16:creationId xmlns:a16="http://schemas.microsoft.com/office/drawing/2014/main" id="{3867E7D5-FCED-7165-8CAB-55E31A6F769C}"/>
              </a:ext>
            </a:extLst>
          </p:cNvPr>
          <p:cNvSpPr/>
          <p:nvPr/>
        </p:nvSpPr>
        <p:spPr>
          <a:xfrm>
            <a:off x="246888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1" name="Shape 12">
            <a:extLst>
              <a:ext uri="{FF2B5EF4-FFF2-40B4-BE49-F238E27FC236}">
                <a16:creationId xmlns:a16="http://schemas.microsoft.com/office/drawing/2014/main" id="{82F08AF8-02B5-6123-587B-FF0723445C57}"/>
              </a:ext>
            </a:extLst>
          </p:cNvPr>
          <p:cNvSpPr/>
          <p:nvPr/>
        </p:nvSpPr>
        <p:spPr>
          <a:xfrm>
            <a:off x="246888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2" name="Shape 13">
            <a:extLst>
              <a:ext uri="{FF2B5EF4-FFF2-40B4-BE49-F238E27FC236}">
                <a16:creationId xmlns:a16="http://schemas.microsoft.com/office/drawing/2014/main" id="{548CC8B8-1596-CC30-9E49-EAB3A6B9D290}"/>
              </a:ext>
            </a:extLst>
          </p:cNvPr>
          <p:cNvSpPr/>
          <p:nvPr/>
        </p:nvSpPr>
        <p:spPr>
          <a:xfrm>
            <a:off x="2468880" y="248998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3" name="Shape 14">
            <a:extLst>
              <a:ext uri="{FF2B5EF4-FFF2-40B4-BE49-F238E27FC236}">
                <a16:creationId xmlns:a16="http://schemas.microsoft.com/office/drawing/2014/main" id="{C9271C08-6360-AC5A-E0D0-60E893A4E842}"/>
              </a:ext>
            </a:extLst>
          </p:cNvPr>
          <p:cNvSpPr/>
          <p:nvPr/>
        </p:nvSpPr>
        <p:spPr>
          <a:xfrm>
            <a:off x="2468879" y="3854544"/>
            <a:ext cx="46141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4" name="Shape 15">
            <a:extLst>
              <a:ext uri="{FF2B5EF4-FFF2-40B4-BE49-F238E27FC236}">
                <a16:creationId xmlns:a16="http://schemas.microsoft.com/office/drawing/2014/main" id="{362B8AC6-03B0-563B-4601-99E9A6F579E4}"/>
              </a:ext>
            </a:extLst>
          </p:cNvPr>
          <p:cNvSpPr/>
          <p:nvPr/>
        </p:nvSpPr>
        <p:spPr>
          <a:xfrm>
            <a:off x="356616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A788B620-2E00-F5BD-DFC2-E7E07D170A60}"/>
              </a:ext>
            </a:extLst>
          </p:cNvPr>
          <p:cNvSpPr/>
          <p:nvPr/>
        </p:nvSpPr>
        <p:spPr>
          <a:xfrm>
            <a:off x="356616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6" name="Shape 17">
            <a:extLst>
              <a:ext uri="{FF2B5EF4-FFF2-40B4-BE49-F238E27FC236}">
                <a16:creationId xmlns:a16="http://schemas.microsoft.com/office/drawing/2014/main" id="{9C2ED693-0CF2-CA30-326E-9EF7C1E05B71}"/>
              </a:ext>
            </a:extLst>
          </p:cNvPr>
          <p:cNvSpPr/>
          <p:nvPr/>
        </p:nvSpPr>
        <p:spPr>
          <a:xfrm>
            <a:off x="356616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7" name="Shape 18">
            <a:extLst>
              <a:ext uri="{FF2B5EF4-FFF2-40B4-BE49-F238E27FC236}">
                <a16:creationId xmlns:a16="http://schemas.microsoft.com/office/drawing/2014/main" id="{F93BA26B-BD1F-1347-D8DC-2AA74DBE29A4}"/>
              </a:ext>
            </a:extLst>
          </p:cNvPr>
          <p:cNvSpPr/>
          <p:nvPr/>
        </p:nvSpPr>
        <p:spPr>
          <a:xfrm>
            <a:off x="3566160" y="248998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8" name="Shape 19">
            <a:extLst>
              <a:ext uri="{FF2B5EF4-FFF2-40B4-BE49-F238E27FC236}">
                <a16:creationId xmlns:a16="http://schemas.microsoft.com/office/drawing/2014/main" id="{2FE61579-2C67-37DC-6381-8F583ECE487F}"/>
              </a:ext>
            </a:extLst>
          </p:cNvPr>
          <p:cNvSpPr/>
          <p:nvPr/>
        </p:nvSpPr>
        <p:spPr>
          <a:xfrm>
            <a:off x="3566159" y="3854544"/>
            <a:ext cx="46141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CBA116E7-F438-F241-06F3-A8EAF2CE24F4}"/>
              </a:ext>
            </a:extLst>
          </p:cNvPr>
          <p:cNvSpPr/>
          <p:nvPr/>
        </p:nvSpPr>
        <p:spPr>
          <a:xfrm>
            <a:off x="466344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0" name="Shape 21">
            <a:extLst>
              <a:ext uri="{FF2B5EF4-FFF2-40B4-BE49-F238E27FC236}">
                <a16:creationId xmlns:a16="http://schemas.microsoft.com/office/drawing/2014/main" id="{AB1CE482-2047-239E-D705-6AF8A52E70B4}"/>
              </a:ext>
            </a:extLst>
          </p:cNvPr>
          <p:cNvSpPr/>
          <p:nvPr/>
        </p:nvSpPr>
        <p:spPr>
          <a:xfrm>
            <a:off x="466344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1" name="Shape 22">
            <a:extLst>
              <a:ext uri="{FF2B5EF4-FFF2-40B4-BE49-F238E27FC236}">
                <a16:creationId xmlns:a16="http://schemas.microsoft.com/office/drawing/2014/main" id="{2E6FACD9-6B40-3836-581C-0CF71D3B857C}"/>
              </a:ext>
            </a:extLst>
          </p:cNvPr>
          <p:cNvSpPr/>
          <p:nvPr/>
        </p:nvSpPr>
        <p:spPr>
          <a:xfrm>
            <a:off x="466344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2" name="Shape 23">
            <a:extLst>
              <a:ext uri="{FF2B5EF4-FFF2-40B4-BE49-F238E27FC236}">
                <a16:creationId xmlns:a16="http://schemas.microsoft.com/office/drawing/2014/main" id="{B98293CD-D17E-C5C4-C934-2AF3D1B77006}"/>
              </a:ext>
            </a:extLst>
          </p:cNvPr>
          <p:cNvSpPr/>
          <p:nvPr/>
        </p:nvSpPr>
        <p:spPr>
          <a:xfrm>
            <a:off x="4663440" y="248998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4E9A8622-8583-6E97-0BE6-0FEF1C45EA37}"/>
              </a:ext>
            </a:extLst>
          </p:cNvPr>
          <p:cNvSpPr/>
          <p:nvPr/>
        </p:nvSpPr>
        <p:spPr>
          <a:xfrm>
            <a:off x="4663439" y="3854544"/>
            <a:ext cx="46141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4" name="Shape 25">
            <a:extLst>
              <a:ext uri="{FF2B5EF4-FFF2-40B4-BE49-F238E27FC236}">
                <a16:creationId xmlns:a16="http://schemas.microsoft.com/office/drawing/2014/main" id="{A2D8026E-219B-114C-4181-29FD600C3CE7}"/>
              </a:ext>
            </a:extLst>
          </p:cNvPr>
          <p:cNvSpPr/>
          <p:nvPr/>
        </p:nvSpPr>
        <p:spPr>
          <a:xfrm>
            <a:off x="576072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32E46AAA-F418-7D13-EB2A-84CB0CAD5798}"/>
              </a:ext>
            </a:extLst>
          </p:cNvPr>
          <p:cNvSpPr/>
          <p:nvPr/>
        </p:nvSpPr>
        <p:spPr>
          <a:xfrm>
            <a:off x="576072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6" name="Shape 27">
            <a:extLst>
              <a:ext uri="{FF2B5EF4-FFF2-40B4-BE49-F238E27FC236}">
                <a16:creationId xmlns:a16="http://schemas.microsoft.com/office/drawing/2014/main" id="{9BAF3E36-B58A-1670-FF94-AB0CB0F8AE20}"/>
              </a:ext>
            </a:extLst>
          </p:cNvPr>
          <p:cNvSpPr/>
          <p:nvPr/>
        </p:nvSpPr>
        <p:spPr>
          <a:xfrm>
            <a:off x="576072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7" name="Shape 28">
            <a:extLst>
              <a:ext uri="{FF2B5EF4-FFF2-40B4-BE49-F238E27FC236}">
                <a16:creationId xmlns:a16="http://schemas.microsoft.com/office/drawing/2014/main" id="{E1A5B099-DA78-9FF1-DDE9-21E2652D5499}"/>
              </a:ext>
            </a:extLst>
          </p:cNvPr>
          <p:cNvSpPr/>
          <p:nvPr/>
        </p:nvSpPr>
        <p:spPr>
          <a:xfrm>
            <a:off x="5760720" y="248998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8" name="Shape 29">
            <a:extLst>
              <a:ext uri="{FF2B5EF4-FFF2-40B4-BE49-F238E27FC236}">
                <a16:creationId xmlns:a16="http://schemas.microsoft.com/office/drawing/2014/main" id="{06128B31-694D-6522-D90A-026CA22BE61F}"/>
              </a:ext>
            </a:extLst>
          </p:cNvPr>
          <p:cNvSpPr/>
          <p:nvPr/>
        </p:nvSpPr>
        <p:spPr>
          <a:xfrm>
            <a:off x="5760719" y="3854544"/>
            <a:ext cx="46141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9" name="Shape 30">
            <a:extLst>
              <a:ext uri="{FF2B5EF4-FFF2-40B4-BE49-F238E27FC236}">
                <a16:creationId xmlns:a16="http://schemas.microsoft.com/office/drawing/2014/main" id="{615EB8AF-560C-D07E-6D73-8DDC8B679EE6}"/>
              </a:ext>
            </a:extLst>
          </p:cNvPr>
          <p:cNvSpPr/>
          <p:nvPr/>
        </p:nvSpPr>
        <p:spPr>
          <a:xfrm>
            <a:off x="685800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0" name="Shape 31">
            <a:extLst>
              <a:ext uri="{FF2B5EF4-FFF2-40B4-BE49-F238E27FC236}">
                <a16:creationId xmlns:a16="http://schemas.microsoft.com/office/drawing/2014/main" id="{E1F4437A-46F4-AE85-AB6B-1D56B6E6EC25}"/>
              </a:ext>
            </a:extLst>
          </p:cNvPr>
          <p:cNvSpPr/>
          <p:nvPr/>
        </p:nvSpPr>
        <p:spPr>
          <a:xfrm>
            <a:off x="685800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1" name="Shape 32">
            <a:extLst>
              <a:ext uri="{FF2B5EF4-FFF2-40B4-BE49-F238E27FC236}">
                <a16:creationId xmlns:a16="http://schemas.microsoft.com/office/drawing/2014/main" id="{C51AE0E1-E041-FDE9-BA35-56B28AF2B4FA}"/>
              </a:ext>
            </a:extLst>
          </p:cNvPr>
          <p:cNvSpPr/>
          <p:nvPr/>
        </p:nvSpPr>
        <p:spPr>
          <a:xfrm>
            <a:off x="685800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2" name="Shape 33">
            <a:extLst>
              <a:ext uri="{FF2B5EF4-FFF2-40B4-BE49-F238E27FC236}">
                <a16:creationId xmlns:a16="http://schemas.microsoft.com/office/drawing/2014/main" id="{4D7E3E7E-A5C0-EABE-C378-AB202BEB4B68}"/>
              </a:ext>
            </a:extLst>
          </p:cNvPr>
          <p:cNvSpPr/>
          <p:nvPr/>
        </p:nvSpPr>
        <p:spPr>
          <a:xfrm>
            <a:off x="6858000" y="248998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3" name="Shape 34">
            <a:extLst>
              <a:ext uri="{FF2B5EF4-FFF2-40B4-BE49-F238E27FC236}">
                <a16:creationId xmlns:a16="http://schemas.microsoft.com/office/drawing/2014/main" id="{9D9237AA-A957-0512-9238-BAA9A16C9956}"/>
              </a:ext>
            </a:extLst>
          </p:cNvPr>
          <p:cNvSpPr/>
          <p:nvPr/>
        </p:nvSpPr>
        <p:spPr>
          <a:xfrm>
            <a:off x="6857999" y="3854544"/>
            <a:ext cx="46141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2B3F15B0-3BF6-0A90-03A6-10DA889F0876}"/>
              </a:ext>
            </a:extLst>
          </p:cNvPr>
          <p:cNvSpPr/>
          <p:nvPr/>
        </p:nvSpPr>
        <p:spPr>
          <a:xfrm>
            <a:off x="7955280" y="27432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09F57AAE-1E2F-1FAA-6F0A-90ACB4F5EE31}"/>
              </a:ext>
            </a:extLst>
          </p:cNvPr>
          <p:cNvSpPr/>
          <p:nvPr/>
        </p:nvSpPr>
        <p:spPr>
          <a:xfrm>
            <a:off x="7955280" y="128016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6" name="Shape 37">
            <a:extLst>
              <a:ext uri="{FF2B5EF4-FFF2-40B4-BE49-F238E27FC236}">
                <a16:creationId xmlns:a16="http://schemas.microsoft.com/office/drawing/2014/main" id="{17971B01-EBC7-9AE2-83BC-2F9507ADE9E4}"/>
              </a:ext>
            </a:extLst>
          </p:cNvPr>
          <p:cNvSpPr/>
          <p:nvPr/>
        </p:nvSpPr>
        <p:spPr>
          <a:xfrm>
            <a:off x="7955280" y="2286000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7" name="Shape 38">
            <a:extLst>
              <a:ext uri="{FF2B5EF4-FFF2-40B4-BE49-F238E27FC236}">
                <a16:creationId xmlns:a16="http://schemas.microsoft.com/office/drawing/2014/main" id="{674F6997-5B91-CF03-442C-706DC327FBAC}"/>
              </a:ext>
            </a:extLst>
          </p:cNvPr>
          <p:cNvSpPr/>
          <p:nvPr/>
        </p:nvSpPr>
        <p:spPr>
          <a:xfrm>
            <a:off x="7955280" y="2489984"/>
            <a:ext cx="45720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8" name="Shape 39">
            <a:extLst>
              <a:ext uri="{FF2B5EF4-FFF2-40B4-BE49-F238E27FC236}">
                <a16:creationId xmlns:a16="http://schemas.microsoft.com/office/drawing/2014/main" id="{2E7E95E6-3407-480C-31FF-040670F071D6}"/>
              </a:ext>
            </a:extLst>
          </p:cNvPr>
          <p:cNvSpPr/>
          <p:nvPr/>
        </p:nvSpPr>
        <p:spPr>
          <a:xfrm>
            <a:off x="7955279" y="3854544"/>
            <a:ext cx="46141" cy="457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9" name="Shape 40">
            <a:extLst>
              <a:ext uri="{FF2B5EF4-FFF2-40B4-BE49-F238E27FC236}">
                <a16:creationId xmlns:a16="http://schemas.microsoft.com/office/drawing/2014/main" id="{791CC1E7-3D2E-FAD4-A342-B273E6673739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00" name="Text 41">
            <a:extLst>
              <a:ext uri="{FF2B5EF4-FFF2-40B4-BE49-F238E27FC236}">
                <a16:creationId xmlns:a16="http://schemas.microsoft.com/office/drawing/2014/main" id="{0ABCFC2B-FECE-72CC-8114-5251B7158586}"/>
              </a:ext>
            </a:extLst>
          </p:cNvPr>
          <p:cNvSpPr/>
          <p:nvPr/>
        </p:nvSpPr>
        <p:spPr>
          <a:xfrm>
            <a:off x="457200" y="502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6800" dirty="0"/>
          </a:p>
        </p:txBody>
      </p:sp>
      <p:sp>
        <p:nvSpPr>
          <p:cNvPr id="101" name="Text 42">
            <a:extLst>
              <a:ext uri="{FF2B5EF4-FFF2-40B4-BE49-F238E27FC236}">
                <a16:creationId xmlns:a16="http://schemas.microsoft.com/office/drawing/2014/main" id="{690704B6-C42C-3B1A-9413-3A4E43DFA7B6}"/>
              </a:ext>
            </a:extLst>
          </p:cNvPr>
          <p:cNvSpPr/>
          <p:nvPr/>
        </p:nvSpPr>
        <p:spPr>
          <a:xfrm>
            <a:off x="3497580" y="4754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6800" dirty="0"/>
          </a:p>
        </p:txBody>
      </p:sp>
      <p:sp>
        <p:nvSpPr>
          <p:cNvPr id="102" name="Text 43">
            <a:extLst>
              <a:ext uri="{FF2B5EF4-FFF2-40B4-BE49-F238E27FC236}">
                <a16:creationId xmlns:a16="http://schemas.microsoft.com/office/drawing/2014/main" id="{0EDB2BF6-B45B-EF98-DF1C-4C72173E3547}"/>
              </a:ext>
            </a:extLst>
          </p:cNvPr>
          <p:cNvSpPr/>
          <p:nvPr/>
        </p:nvSpPr>
        <p:spPr>
          <a:xfrm>
            <a:off x="457200" y="1466555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B0C4D8"/>
                </a:solidFill>
              </a:rPr>
              <a:t>CargoX</a:t>
            </a:r>
            <a:r>
              <a:rPr lang="en-US" sz="1300" i="1" dirty="0">
                <a:solidFill>
                  <a:srgbClr val="B0C4D8"/>
                </a:solidFill>
              </a:rPr>
              <a:t> - Making abandoned port cargo work for everyone.</a:t>
            </a:r>
            <a:endParaRPr lang="en-US" sz="1300" dirty="0"/>
          </a:p>
        </p:txBody>
      </p:sp>
      <p:sp>
        <p:nvSpPr>
          <p:cNvPr id="103" name="Shape 44">
            <a:extLst>
              <a:ext uri="{FF2B5EF4-FFF2-40B4-BE49-F238E27FC236}">
                <a16:creationId xmlns:a16="http://schemas.microsoft.com/office/drawing/2014/main" id="{C545A300-FDBC-D14D-0B3B-5860B51DB8BC}"/>
              </a:ext>
            </a:extLst>
          </p:cNvPr>
          <p:cNvSpPr/>
          <p:nvPr/>
        </p:nvSpPr>
        <p:spPr>
          <a:xfrm>
            <a:off x="457200" y="1895624"/>
            <a:ext cx="2651760" cy="749808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4" name="Text 45">
            <a:extLst>
              <a:ext uri="{FF2B5EF4-FFF2-40B4-BE49-F238E27FC236}">
                <a16:creationId xmlns:a16="http://schemas.microsoft.com/office/drawing/2014/main" id="{3F96D617-4840-EACA-887D-A952F178E519}"/>
              </a:ext>
            </a:extLst>
          </p:cNvPr>
          <p:cNvSpPr/>
          <p:nvPr/>
        </p:nvSpPr>
        <p:spPr>
          <a:xfrm>
            <a:off x="594360" y="1959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0A500"/>
                </a:solidFill>
              </a:rPr>
              <a:t>📂  GitHub</a:t>
            </a:r>
            <a:endParaRPr lang="en-US" sz="800" dirty="0"/>
          </a:p>
        </p:txBody>
      </p:sp>
      <p:sp>
        <p:nvSpPr>
          <p:cNvPr id="105" name="Text 46">
            <a:extLst>
              <a:ext uri="{FF2B5EF4-FFF2-40B4-BE49-F238E27FC236}">
                <a16:creationId xmlns:a16="http://schemas.microsoft.com/office/drawing/2014/main" id="{AD852E58-E04B-68E6-737D-F3BD498403B6}"/>
              </a:ext>
            </a:extLst>
          </p:cNvPr>
          <p:cNvSpPr/>
          <p:nvPr/>
        </p:nvSpPr>
        <p:spPr>
          <a:xfrm>
            <a:off x="594360" y="2215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github.com/HARI-HL/cargox</a:t>
            </a:r>
            <a:endParaRPr lang="en-US" sz="900" dirty="0"/>
          </a:p>
        </p:txBody>
      </p:sp>
      <p:sp>
        <p:nvSpPr>
          <p:cNvPr id="106" name="Shape 47">
            <a:extLst>
              <a:ext uri="{FF2B5EF4-FFF2-40B4-BE49-F238E27FC236}">
                <a16:creationId xmlns:a16="http://schemas.microsoft.com/office/drawing/2014/main" id="{0B00CFD9-E536-CBE2-BAED-1F518E3C1533}"/>
              </a:ext>
            </a:extLst>
          </p:cNvPr>
          <p:cNvSpPr/>
          <p:nvPr/>
        </p:nvSpPr>
        <p:spPr>
          <a:xfrm>
            <a:off x="3337560" y="1895624"/>
            <a:ext cx="2651760" cy="749808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7" name="Text 48">
            <a:extLst>
              <a:ext uri="{FF2B5EF4-FFF2-40B4-BE49-F238E27FC236}">
                <a16:creationId xmlns:a16="http://schemas.microsoft.com/office/drawing/2014/main" id="{C521A114-3A8C-1CD2-3B1C-04ED9A67ED67}"/>
              </a:ext>
            </a:extLst>
          </p:cNvPr>
          <p:cNvSpPr/>
          <p:nvPr/>
        </p:nvSpPr>
        <p:spPr>
          <a:xfrm>
            <a:off x="3474720" y="1959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0A500"/>
                </a:solidFill>
              </a:rPr>
              <a:t>🖥️  Prototype</a:t>
            </a:r>
            <a:endParaRPr lang="en-US" sz="800" dirty="0"/>
          </a:p>
        </p:txBody>
      </p:sp>
      <p:sp>
        <p:nvSpPr>
          <p:cNvPr id="108" name="Text 49">
            <a:extLst>
              <a:ext uri="{FF2B5EF4-FFF2-40B4-BE49-F238E27FC236}">
                <a16:creationId xmlns:a16="http://schemas.microsoft.com/office/drawing/2014/main" id="{16AC0FA5-DDF9-BBE1-E4AB-20249BA87018}"/>
              </a:ext>
            </a:extLst>
          </p:cNvPr>
          <p:cNvSpPr/>
          <p:nvPr/>
        </p:nvSpPr>
        <p:spPr>
          <a:xfrm>
            <a:off x="3474720" y="2215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Live HTML demo included</a:t>
            </a:r>
            <a:endParaRPr lang="en-US" sz="900" dirty="0"/>
          </a:p>
        </p:txBody>
      </p:sp>
      <p:sp>
        <p:nvSpPr>
          <p:cNvPr id="109" name="Shape 50">
            <a:extLst>
              <a:ext uri="{FF2B5EF4-FFF2-40B4-BE49-F238E27FC236}">
                <a16:creationId xmlns:a16="http://schemas.microsoft.com/office/drawing/2014/main" id="{362AECD9-524F-C2AF-BDF0-8D16B467D7E9}"/>
              </a:ext>
            </a:extLst>
          </p:cNvPr>
          <p:cNvSpPr/>
          <p:nvPr/>
        </p:nvSpPr>
        <p:spPr>
          <a:xfrm>
            <a:off x="6217920" y="1895624"/>
            <a:ext cx="2651760" cy="749808"/>
          </a:xfrm>
          <a:prstGeom prst="rect">
            <a:avLst/>
          </a:prstGeom>
          <a:solidFill>
            <a:srgbClr val="1A2F4A"/>
          </a:solidFill>
          <a:ln w="3810">
            <a:solidFill>
              <a:srgbClr val="FFFFFF">
                <a:alpha val="1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0" name="Text 51">
            <a:extLst>
              <a:ext uri="{FF2B5EF4-FFF2-40B4-BE49-F238E27FC236}">
                <a16:creationId xmlns:a16="http://schemas.microsoft.com/office/drawing/2014/main" id="{30E1859A-C75B-53F1-CCC5-FDC08FDC595F}"/>
              </a:ext>
            </a:extLst>
          </p:cNvPr>
          <p:cNvSpPr/>
          <p:nvPr/>
        </p:nvSpPr>
        <p:spPr>
          <a:xfrm>
            <a:off x="6355080" y="1959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0A500"/>
                </a:solidFill>
              </a:rPr>
              <a:t>📧  Contact</a:t>
            </a:r>
            <a:endParaRPr lang="en-US" sz="800" dirty="0"/>
          </a:p>
        </p:txBody>
      </p:sp>
      <p:sp>
        <p:nvSpPr>
          <p:cNvPr id="111" name="Text 52">
            <a:extLst>
              <a:ext uri="{FF2B5EF4-FFF2-40B4-BE49-F238E27FC236}">
                <a16:creationId xmlns:a16="http://schemas.microsoft.com/office/drawing/2014/main" id="{DB129688-8DC0-0DE3-366D-4FCBD200FD65}"/>
              </a:ext>
            </a:extLst>
          </p:cNvPr>
          <p:cNvSpPr/>
          <p:nvPr/>
        </p:nvSpPr>
        <p:spPr>
          <a:xfrm>
            <a:off x="6355080" y="2215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Team KK  - hariharansrinivasaragavan@gmail.com</a:t>
            </a:r>
            <a:endParaRPr lang="en-US" sz="900" dirty="0"/>
          </a:p>
        </p:txBody>
      </p:sp>
      <p:sp>
        <p:nvSpPr>
          <p:cNvPr id="112" name="Shape 53">
            <a:extLst>
              <a:ext uri="{FF2B5EF4-FFF2-40B4-BE49-F238E27FC236}">
                <a16:creationId xmlns:a16="http://schemas.microsoft.com/office/drawing/2014/main" id="{F2B29AB7-C5E8-4FDB-73BF-78DD55170565}"/>
              </a:ext>
            </a:extLst>
          </p:cNvPr>
          <p:cNvSpPr/>
          <p:nvPr/>
        </p:nvSpPr>
        <p:spPr>
          <a:xfrm>
            <a:off x="457200" y="3010480"/>
            <a:ext cx="8489852" cy="1438424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3" name="Shape 54">
            <a:extLst>
              <a:ext uri="{FF2B5EF4-FFF2-40B4-BE49-F238E27FC236}">
                <a16:creationId xmlns:a16="http://schemas.microsoft.com/office/drawing/2014/main" id="{41BCD2AE-6EA2-B1E7-0D5B-39CD645FFE4F}"/>
              </a:ext>
            </a:extLst>
          </p:cNvPr>
          <p:cNvSpPr/>
          <p:nvPr/>
        </p:nvSpPr>
        <p:spPr>
          <a:xfrm>
            <a:off x="457199" y="3123024"/>
            <a:ext cx="55369" cy="1325880"/>
          </a:xfrm>
          <a:prstGeom prst="rect">
            <a:avLst/>
          </a:prstGeom>
          <a:solidFill>
            <a:srgbClr val="22C97A"/>
          </a:solidFill>
          <a:ln/>
        </p:spPr>
      </p:sp>
      <p:sp>
        <p:nvSpPr>
          <p:cNvPr id="114" name="Text 55">
            <a:extLst>
              <a:ext uri="{FF2B5EF4-FFF2-40B4-BE49-F238E27FC236}">
                <a16:creationId xmlns:a16="http://schemas.microsoft.com/office/drawing/2014/main" id="{6ECEBCE2-BA9C-7A35-FAAE-2399AA67678D}"/>
              </a:ext>
            </a:extLst>
          </p:cNvPr>
          <p:cNvSpPr/>
          <p:nvPr/>
        </p:nvSpPr>
        <p:spPr>
          <a:xfrm>
            <a:off x="594360" y="3168744"/>
            <a:ext cx="8120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22C97A"/>
                </a:solidFill>
              </a:rPr>
              <a:t>📚  DATA SOURCES — All statistics cited from verified sources</a:t>
            </a:r>
            <a:endParaRPr lang="en-US" sz="1050" dirty="0"/>
          </a:p>
        </p:txBody>
      </p:sp>
      <p:sp>
        <p:nvSpPr>
          <p:cNvPr id="115" name="Text 56">
            <a:extLst>
              <a:ext uri="{FF2B5EF4-FFF2-40B4-BE49-F238E27FC236}">
                <a16:creationId xmlns:a16="http://schemas.microsoft.com/office/drawing/2014/main" id="{0F06FC6C-5A65-FE2D-A799-F4E2ABA9D729}"/>
              </a:ext>
            </a:extLst>
          </p:cNvPr>
          <p:cNvSpPr/>
          <p:nvPr/>
        </p:nvSpPr>
        <p:spPr>
          <a:xfrm>
            <a:off x="640079" y="3433920"/>
            <a:ext cx="80284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</a:rPr>
              <a:t>· ITF/OECD (2022) — Port Performance Indicators: 11M+ TEU unclaimed cargo annually</a:t>
            </a:r>
            <a:endParaRPr lang="en-US" sz="1050" dirty="0"/>
          </a:p>
        </p:txBody>
      </p:sp>
      <p:sp>
        <p:nvSpPr>
          <p:cNvPr id="116" name="Text 57">
            <a:extLst>
              <a:ext uri="{FF2B5EF4-FFF2-40B4-BE49-F238E27FC236}">
                <a16:creationId xmlns:a16="http://schemas.microsoft.com/office/drawing/2014/main" id="{8AC29F4A-B7B0-35C7-023A-387A8F28BB5A}"/>
              </a:ext>
            </a:extLst>
          </p:cNvPr>
          <p:cNvSpPr/>
          <p:nvPr/>
        </p:nvSpPr>
        <p:spPr>
          <a:xfrm>
            <a:off x="640079" y="3616800"/>
            <a:ext cx="80284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</a:rPr>
              <a:t>· World Bank (2022) — Logistics Performance Index: 30% port capacity lost to dwell inefficiencies</a:t>
            </a:r>
            <a:endParaRPr lang="en-US" sz="1050" dirty="0"/>
          </a:p>
        </p:txBody>
      </p:sp>
      <p:sp>
        <p:nvSpPr>
          <p:cNvPr id="117" name="Text 58">
            <a:extLst>
              <a:ext uri="{FF2B5EF4-FFF2-40B4-BE49-F238E27FC236}">
                <a16:creationId xmlns:a16="http://schemas.microsoft.com/office/drawing/2014/main" id="{8B4D33A2-1639-31FB-FA4D-88187C4844F2}"/>
              </a:ext>
            </a:extLst>
          </p:cNvPr>
          <p:cNvSpPr/>
          <p:nvPr/>
        </p:nvSpPr>
        <p:spPr>
          <a:xfrm>
            <a:off x="640079" y="3799680"/>
            <a:ext cx="80284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</a:rPr>
              <a:t>· IMO (2023) — GHG Study: Shipping = 2.89% of global CO₂ emissions</a:t>
            </a:r>
            <a:endParaRPr lang="en-US" sz="1050" dirty="0"/>
          </a:p>
        </p:txBody>
      </p:sp>
      <p:sp>
        <p:nvSpPr>
          <p:cNvPr id="118" name="Text 59">
            <a:extLst>
              <a:ext uri="{FF2B5EF4-FFF2-40B4-BE49-F238E27FC236}">
                <a16:creationId xmlns:a16="http://schemas.microsoft.com/office/drawing/2014/main" id="{1CF7DE0F-8300-7936-168E-43EC42070CCB}"/>
              </a:ext>
            </a:extLst>
          </p:cNvPr>
          <p:cNvSpPr/>
          <p:nvPr/>
        </p:nvSpPr>
        <p:spPr>
          <a:xfrm>
            <a:off x="640079" y="3982560"/>
            <a:ext cx="80284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</a:rPr>
              <a:t>· WTO (2022) — Trade Facilitation Agreement: 164 countries ratified digital customs mandate</a:t>
            </a:r>
            <a:endParaRPr lang="en-US" sz="1050" dirty="0"/>
          </a:p>
        </p:txBody>
      </p:sp>
      <p:sp>
        <p:nvSpPr>
          <p:cNvPr id="119" name="Text 60">
            <a:extLst>
              <a:ext uri="{FF2B5EF4-FFF2-40B4-BE49-F238E27FC236}">
                <a16:creationId xmlns:a16="http://schemas.microsoft.com/office/drawing/2014/main" id="{EE8FCD34-4DC7-AA70-6F52-43F062FF67CE}"/>
              </a:ext>
            </a:extLst>
          </p:cNvPr>
          <p:cNvSpPr/>
          <p:nvPr/>
        </p:nvSpPr>
        <p:spPr>
          <a:xfrm>
            <a:off x="640079" y="4165440"/>
            <a:ext cx="80284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4C8"/>
                </a:solidFill>
              </a:rPr>
              <a:t>· MarketsandMarkets (2023) — Logistics Tech CAGR 11.2% · CBIC India (2021) — Customs Act §150 e-auction authority</a:t>
            </a:r>
            <a:endParaRPr lang="en-US" sz="1050" dirty="0"/>
          </a:p>
        </p:txBody>
      </p:sp>
      <p:sp>
        <p:nvSpPr>
          <p:cNvPr id="120" name="Text 61">
            <a:extLst>
              <a:ext uri="{FF2B5EF4-FFF2-40B4-BE49-F238E27FC236}">
                <a16:creationId xmlns:a16="http://schemas.microsoft.com/office/drawing/2014/main" id="{95BC9CB9-A261-5115-A0F3-D29897C0CED2}"/>
              </a:ext>
            </a:extLst>
          </p:cNvPr>
          <p:cNvSpPr/>
          <p:nvPr/>
        </p:nvSpPr>
        <p:spPr>
          <a:xfrm>
            <a:off x="457199" y="4330032"/>
            <a:ext cx="59982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21" name="Text 62">
            <a:extLst>
              <a:ext uri="{FF2B5EF4-FFF2-40B4-BE49-F238E27FC236}">
                <a16:creationId xmlns:a16="http://schemas.microsoft.com/office/drawing/2014/main" id="{9A23D1A2-AB65-D4A4-C1B8-D3C0DF1E006F}"/>
              </a:ext>
            </a:extLst>
          </p:cNvPr>
          <p:cNvSpPr/>
          <p:nvPr/>
        </p:nvSpPr>
        <p:spPr>
          <a:xfrm>
            <a:off x="7684769" y="4690806"/>
            <a:ext cx="13041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A4A5A"/>
                </a:solidFill>
              </a:rPr>
              <a:t> BITS Pilani Hyderabad</a:t>
            </a:r>
            <a:endParaRPr lang="en-US" sz="1100" dirty="0"/>
          </a:p>
        </p:txBody>
      </p:sp>
      <p:sp>
        <p:nvSpPr>
          <p:cNvPr id="122" name="Text 55">
            <a:extLst>
              <a:ext uri="{FF2B5EF4-FFF2-40B4-BE49-F238E27FC236}">
                <a16:creationId xmlns:a16="http://schemas.microsoft.com/office/drawing/2014/main" id="{FEB0EC56-0D61-87B2-45F0-3FFBA613C8F7}"/>
              </a:ext>
            </a:extLst>
          </p:cNvPr>
          <p:cNvSpPr/>
          <p:nvPr/>
        </p:nvSpPr>
        <p:spPr>
          <a:xfrm>
            <a:off x="36576" y="45659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 WORLD</a:t>
            </a:r>
            <a:endParaRPr lang="en-US" sz="1800" dirty="0"/>
          </a:p>
        </p:txBody>
      </p:sp>
      <p:sp>
        <p:nvSpPr>
          <p:cNvPr id="123" name="Text 56">
            <a:extLst>
              <a:ext uri="{FF2B5EF4-FFF2-40B4-BE49-F238E27FC236}">
                <a16:creationId xmlns:a16="http://schemas.microsoft.com/office/drawing/2014/main" id="{965CB82B-B8F6-FA7B-93E9-C7A3EEAA936B}"/>
              </a:ext>
            </a:extLst>
          </p:cNvPr>
          <p:cNvSpPr/>
          <p:nvPr/>
        </p:nvSpPr>
        <p:spPr>
          <a:xfrm>
            <a:off x="1078992" y="464896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090A0"/>
                </a:solidFill>
              </a:rPr>
              <a:t>HACKATHON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1604</Words>
  <Application>Microsoft Office PowerPoint</Application>
  <PresentationFormat>On-screen Show (16:9)</PresentationFormat>
  <Paragraphs>271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CargoX — DP World Hackathon</dc:title>
  <dc:subject>PptxGenJS Presentation</dc:subject>
  <dc:creator>PptxGenJS</dc:creator>
  <cp:lastModifiedBy>Hariharan S</cp:lastModifiedBy>
  <cp:revision>3</cp:revision>
  <dcterms:created xsi:type="dcterms:W3CDTF">2026-03-28T04:03:24Z</dcterms:created>
  <dcterms:modified xsi:type="dcterms:W3CDTF">2026-03-28T04:51:33Z</dcterms:modified>
</cp:coreProperties>
</file>